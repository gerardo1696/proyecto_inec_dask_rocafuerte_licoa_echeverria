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1295C"/>
                </a:solidFill>
                <a:latin typeface="Calibri"/>
              </a:defRPr>
            </a:pPr>
            <a:r>
              <a:rPr lang="es-EC" sz="1200" b="0" i="0" u="none" strike="noStrike">
                <a:solidFill>
                  <a:srgbClr val="21295C"/>
                </a:solidFill>
                <a:latin typeface="Calibri"/>
              </a:rPr>
              <a:t>Tiempo total de procesamiento (s)</a:t>
            </a:r>
          </a:p>
        </c:rich>
      </c:tx>
      <c:overlay val="0"/>
    </c:title>
    <c:autoTitleDeleted val="0"/>
    <c:plotArea>
      <c:layout/>
      <c:barChart>
        <c:barDir val="col"/>
        <c:grouping val="clustered"/>
        <c:varyColors val="0"/>
        <c:ser>
          <c:idx val="0"/>
          <c:order val="0"/>
          <c:tx>
            <c:strRef>
              <c:f>Sheet1!$B$1</c:f>
              <c:strCache>
                <c:ptCount val="1"/>
                <c:pt idx="0">
                  <c:v>Segundos</c:v>
                </c:pt>
              </c:strCache>
            </c:strRef>
          </c:tx>
          <c:spPr>
            <a:solidFill>
              <a:srgbClr val="065A82"/>
            </a:solidFill>
            <a:effectLst/>
          </c:spPr>
          <c:invertIfNegative val="0"/>
          <c:dPt>
            <c:idx val="0"/>
            <c:invertIfNegative val="0"/>
            <c:bubble3D val="0"/>
            <c:extLst>
              <c:ext xmlns:c16="http://schemas.microsoft.com/office/drawing/2014/chart" uri="{C3380CC4-5D6E-409C-BE32-E72D297353CC}">
                <c16:uniqueId val="{00000001-28EE-4505-B65A-CA6ACA47DEF4}"/>
              </c:ext>
            </c:extLst>
          </c:dPt>
          <c:dPt>
            <c:idx val="1"/>
            <c:invertIfNegative val="0"/>
            <c:bubble3D val="0"/>
            <c:spPr>
              <a:solidFill>
                <a:srgbClr val="5FB3A3"/>
              </a:solidFill>
              <a:effectLst/>
            </c:spPr>
            <c:extLst>
              <c:ext xmlns:c16="http://schemas.microsoft.com/office/drawing/2014/chart" uri="{C3380CC4-5D6E-409C-BE32-E72D297353CC}">
                <c16:uniqueId val="{00000003-28EE-4505-B65A-CA6ACA47DEF4}"/>
              </c:ext>
            </c:extLst>
          </c:dPt>
          <c:dLbls>
            <c:numFmt formatCode="0.00" sourceLinked="0"/>
            <c:spPr>
              <a:noFill/>
              <a:ln>
                <a:noFill/>
              </a:ln>
              <a:effectLst/>
            </c:spPr>
            <c:txPr>
              <a:bodyPr/>
              <a:lstStyle/>
              <a:p>
                <a:pPr>
                  <a:defRPr sz="1200" b="0" i="0" u="none" strike="noStrike">
                    <a:solidFill>
                      <a:srgbClr val="21295C"/>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Pandas</c:v>
                </c:pt>
                <c:pt idx="1">
                  <c:v>Dask (2 workers)</c:v>
                </c:pt>
              </c:strCache>
            </c:strRef>
          </c:cat>
          <c:val>
            <c:numRef>
              <c:f>Sheet1!$B$2:$B$3</c:f>
              <c:numCache>
                <c:formatCode>General</c:formatCode>
                <c:ptCount val="2"/>
                <c:pt idx="0">
                  <c:v>87.63</c:v>
                </c:pt>
                <c:pt idx="1">
                  <c:v>89.54</c:v>
                </c:pt>
              </c:numCache>
            </c:numRef>
          </c:val>
          <c:extLst>
            <c:ext xmlns:c16="http://schemas.microsoft.com/office/drawing/2014/chart" uri="{C3380CC4-5D6E-409C-BE32-E72D297353CC}">
              <c16:uniqueId val="{00000004-28EE-4505-B65A-CA6ACA47DE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1295C"/>
                </a:solidFill>
                <a:latin typeface="Calibri"/>
              </a:defRPr>
            </a:pPr>
            <a:endParaRPr lang="es-EC"/>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5"/>
                </a:solidFill>
                <a:latin typeface="Calibri"/>
              </a:defRPr>
            </a:pPr>
            <a:endParaRPr lang="es-EC"/>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1295C"/>
                </a:solidFill>
                <a:latin typeface="Calibri"/>
              </a:defRPr>
            </a:pPr>
            <a:r>
              <a:rPr lang="es-EC" sz="1200" b="0" i="0" u="none" strike="noStrike">
                <a:solidFill>
                  <a:srgbClr val="21295C"/>
                </a:solidFill>
                <a:latin typeface="Calibri"/>
              </a:rPr>
              <a:t>Consumo de memoria (MB)</a:t>
            </a:r>
          </a:p>
        </c:rich>
      </c:tx>
      <c:overlay val="0"/>
    </c:title>
    <c:autoTitleDeleted val="0"/>
    <c:plotArea>
      <c:layout/>
      <c:barChart>
        <c:barDir val="col"/>
        <c:grouping val="clustered"/>
        <c:varyColors val="0"/>
        <c:ser>
          <c:idx val="0"/>
          <c:order val="0"/>
          <c:tx>
            <c:strRef>
              <c:f>Sheet1!$B$1</c:f>
              <c:strCache>
                <c:ptCount val="1"/>
                <c:pt idx="0">
                  <c:v>MB</c:v>
                </c:pt>
              </c:strCache>
            </c:strRef>
          </c:tx>
          <c:spPr>
            <a:solidFill>
              <a:srgbClr val="065A82"/>
            </a:solidFill>
            <a:effectLst/>
          </c:spPr>
          <c:invertIfNegative val="0"/>
          <c:dPt>
            <c:idx val="0"/>
            <c:invertIfNegative val="0"/>
            <c:bubble3D val="0"/>
            <c:extLst>
              <c:ext xmlns:c16="http://schemas.microsoft.com/office/drawing/2014/chart" uri="{C3380CC4-5D6E-409C-BE32-E72D297353CC}">
                <c16:uniqueId val="{00000001-0778-468F-9CDC-36A3E5AC8590}"/>
              </c:ext>
            </c:extLst>
          </c:dPt>
          <c:dPt>
            <c:idx val="1"/>
            <c:invertIfNegative val="0"/>
            <c:bubble3D val="0"/>
            <c:spPr>
              <a:solidFill>
                <a:srgbClr val="1C7293"/>
              </a:solidFill>
              <a:effectLst/>
            </c:spPr>
            <c:extLst>
              <c:ext xmlns:c16="http://schemas.microsoft.com/office/drawing/2014/chart" uri="{C3380CC4-5D6E-409C-BE32-E72D297353CC}">
                <c16:uniqueId val="{00000003-0778-468F-9CDC-36A3E5AC8590}"/>
              </c:ext>
            </c:extLst>
          </c:dPt>
          <c:dPt>
            <c:idx val="2"/>
            <c:invertIfNegative val="0"/>
            <c:bubble3D val="0"/>
            <c:spPr>
              <a:solidFill>
                <a:srgbClr val="5FB3A3"/>
              </a:solidFill>
              <a:effectLst/>
            </c:spPr>
            <c:extLst>
              <c:ext xmlns:c16="http://schemas.microsoft.com/office/drawing/2014/chart" uri="{C3380CC4-5D6E-409C-BE32-E72D297353CC}">
                <c16:uniqueId val="{00000005-0778-468F-9CDC-36A3E5AC8590}"/>
              </c:ext>
            </c:extLst>
          </c:dPt>
          <c:dLbls>
            <c:numFmt formatCode="0.00" sourceLinked="0"/>
            <c:spPr>
              <a:noFill/>
              <a:ln>
                <a:noFill/>
              </a:ln>
              <a:effectLst/>
            </c:spPr>
            <c:txPr>
              <a:bodyPr/>
              <a:lstStyle/>
              <a:p>
                <a:pPr>
                  <a:defRPr sz="1100" b="0" i="0" u="none" strike="noStrike">
                    <a:solidFill>
                      <a:srgbClr val="21295C"/>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Pandas (pico)</c:v>
                </c:pt>
                <c:pt idx="1">
                  <c:v>Dask total
(2 workers)</c:v>
                </c:pt>
                <c:pt idx="2">
                  <c:v>Dask
(máx./worker)</c:v>
                </c:pt>
              </c:strCache>
            </c:strRef>
          </c:cat>
          <c:val>
            <c:numRef>
              <c:f>Sheet1!$B$2:$B$4</c:f>
              <c:numCache>
                <c:formatCode>General</c:formatCode>
                <c:ptCount val="3"/>
                <c:pt idx="0">
                  <c:v>2354.38</c:v>
                </c:pt>
                <c:pt idx="1">
                  <c:v>2152.0700000000002</c:v>
                </c:pt>
                <c:pt idx="2">
                  <c:v>1098.98</c:v>
                </c:pt>
              </c:numCache>
            </c:numRef>
          </c:val>
          <c:extLst>
            <c:ext xmlns:c16="http://schemas.microsoft.com/office/drawing/2014/chart" uri="{C3380CC4-5D6E-409C-BE32-E72D297353CC}">
              <c16:uniqueId val="{00000006-0778-468F-9CDC-36A3E5AC859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1295C"/>
                </a:solidFill>
                <a:latin typeface="Calibri"/>
              </a:defRPr>
            </a:pPr>
            <a:endParaRPr lang="es-EC"/>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5"/>
                </a:solidFill>
                <a:latin typeface="Calibri"/>
              </a:defRPr>
            </a:pPr>
            <a:endParaRPr lang="es-EC"/>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1295C"/>
                </a:solidFill>
                <a:latin typeface="Calibri"/>
              </a:defRPr>
            </a:pPr>
            <a:r>
              <a:rPr lang="es-EC" sz="1200" b="0" i="0" u="none" strike="noStrike">
                <a:solidFill>
                  <a:srgbClr val="21295C"/>
                </a:solidFill>
                <a:latin typeface="Calibri"/>
              </a:rPr>
              <a:t>Eficiencia por número de workers</a:t>
            </a:r>
          </a:p>
        </c:rich>
      </c:tx>
      <c:overlay val="0"/>
    </c:title>
    <c:autoTitleDeleted val="0"/>
    <c:plotArea>
      <c:layout/>
      <c:barChart>
        <c:barDir val="col"/>
        <c:grouping val="clustered"/>
        <c:varyColors val="0"/>
        <c:ser>
          <c:idx val="0"/>
          <c:order val="0"/>
          <c:tx>
            <c:strRef>
              <c:f>Sheet1!$B$1</c:f>
              <c:strCache>
                <c:ptCount val="1"/>
                <c:pt idx="0">
                  <c:v>Eficiencia</c:v>
                </c:pt>
              </c:strCache>
            </c:strRef>
          </c:tx>
          <c:spPr>
            <a:solidFill>
              <a:srgbClr val="5FB3A3"/>
            </a:solidFill>
            <a:effectLst/>
          </c:spPr>
          <c:invertIfNegative val="0"/>
          <c:dPt>
            <c:idx val="0"/>
            <c:invertIfNegative val="0"/>
            <c:bubble3D val="0"/>
            <c:spPr>
              <a:solidFill>
                <a:srgbClr val="5FB3A3"/>
              </a:solidFill>
              <a:effectLst/>
            </c:spPr>
            <c:extLst>
              <c:ext xmlns:c16="http://schemas.microsoft.com/office/drawing/2014/chart" uri="{C3380CC4-5D6E-409C-BE32-E72D297353CC}">
                <c16:uniqueId val="{00000001-E134-4153-9A36-E5D8D5F42DDD}"/>
              </c:ext>
            </c:extLst>
          </c:dPt>
          <c:dPt>
            <c:idx val="1"/>
            <c:invertIfNegative val="0"/>
            <c:bubble3D val="0"/>
            <c:spPr>
              <a:solidFill>
                <a:srgbClr val="E3B23C"/>
              </a:solidFill>
              <a:effectLst/>
            </c:spPr>
            <c:extLst>
              <c:ext xmlns:c16="http://schemas.microsoft.com/office/drawing/2014/chart" uri="{C3380CC4-5D6E-409C-BE32-E72D297353CC}">
                <c16:uniqueId val="{00000003-E134-4153-9A36-E5D8D5F42DDD}"/>
              </c:ext>
            </c:extLst>
          </c:dPt>
          <c:dPt>
            <c:idx val="2"/>
            <c:invertIfNegative val="0"/>
            <c:bubble3D val="0"/>
            <c:spPr>
              <a:solidFill>
                <a:srgbClr val="E8664B"/>
              </a:solidFill>
              <a:effectLst/>
            </c:spPr>
            <c:extLst>
              <c:ext xmlns:c16="http://schemas.microsoft.com/office/drawing/2014/chart" uri="{C3380CC4-5D6E-409C-BE32-E72D297353CC}">
                <c16:uniqueId val="{00000005-E134-4153-9A36-E5D8D5F42DDD}"/>
              </c:ext>
            </c:extLst>
          </c:dPt>
          <c:dLbls>
            <c:numFmt formatCode="0.000" sourceLinked="0"/>
            <c:spPr>
              <a:noFill/>
              <a:ln>
                <a:noFill/>
              </a:ln>
              <a:effectLst/>
            </c:spPr>
            <c:txPr>
              <a:bodyPr/>
              <a:lstStyle/>
              <a:p>
                <a:pPr>
                  <a:defRPr sz="1200" b="0" i="0" u="none" strike="noStrike">
                    <a:solidFill>
                      <a:srgbClr val="21295C"/>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 workers</c:v>
                </c:pt>
                <c:pt idx="1">
                  <c:v>4 workers</c:v>
                </c:pt>
                <c:pt idx="2">
                  <c:v>8 workers</c:v>
                </c:pt>
              </c:strCache>
            </c:strRef>
          </c:cat>
          <c:val>
            <c:numRef>
              <c:f>Sheet1!$B$2:$B$4</c:f>
              <c:numCache>
                <c:formatCode>General</c:formatCode>
                <c:ptCount val="3"/>
                <c:pt idx="0">
                  <c:v>0.48899999999999999</c:v>
                </c:pt>
                <c:pt idx="1">
                  <c:v>0.19700000000000001</c:v>
                </c:pt>
                <c:pt idx="2">
                  <c:v>5.8000000000000003E-2</c:v>
                </c:pt>
              </c:numCache>
            </c:numRef>
          </c:val>
          <c:extLst>
            <c:ext xmlns:c16="http://schemas.microsoft.com/office/drawing/2014/chart" uri="{C3380CC4-5D6E-409C-BE32-E72D297353CC}">
              <c16:uniqueId val="{00000006-E134-4153-9A36-E5D8D5F42DD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1295C"/>
                </a:solidFill>
                <a:latin typeface="Calibri"/>
              </a:defRPr>
            </a:pPr>
            <a:endParaRPr lang="es-EC"/>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5"/>
                </a:solidFill>
                <a:latin typeface="Calibri"/>
              </a:defRPr>
            </a:pPr>
            <a:endParaRPr lang="es-EC"/>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6091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503920" y="-2011680"/>
            <a:ext cx="5486400" cy="5486400"/>
          </a:xfrm>
          <a:prstGeom prst="ellipse">
            <a:avLst/>
          </a:prstGeom>
          <a:solidFill>
            <a:srgbClr val="065A82">
              <a:alpha val="45000"/>
            </a:srgbClr>
          </a:solidFill>
          <a:ln/>
        </p:spPr>
      </p:sp>
      <p:sp>
        <p:nvSpPr>
          <p:cNvPr id="3" name="Shape 1"/>
          <p:cNvSpPr/>
          <p:nvPr/>
        </p:nvSpPr>
        <p:spPr>
          <a:xfrm>
            <a:off x="-2286000" y="4114800"/>
            <a:ext cx="4572000" cy="4572000"/>
          </a:xfrm>
          <a:prstGeom prst="ellipse">
            <a:avLst/>
          </a:prstGeom>
          <a:solidFill>
            <a:srgbClr val="1C7293">
              <a:alpha val="40000"/>
            </a:srgbClr>
          </a:solidFill>
          <a:ln/>
        </p:spPr>
      </p:sp>
      <p:sp>
        <p:nvSpPr>
          <p:cNvPr id="4" name="Text 2"/>
          <p:cNvSpPr/>
          <p:nvPr/>
        </p:nvSpPr>
        <p:spPr>
          <a:xfrm>
            <a:off x="731520" y="640080"/>
            <a:ext cx="10515600" cy="365760"/>
          </a:xfrm>
          <a:prstGeom prst="rect">
            <a:avLst/>
          </a:prstGeom>
          <a:noFill/>
          <a:ln/>
        </p:spPr>
        <p:txBody>
          <a:bodyPr wrap="square" rtlCol="0" anchor="ctr"/>
          <a:lstStyle/>
          <a:p>
            <a:pPr marL="0" indent="0">
              <a:buNone/>
            </a:pPr>
            <a:r>
              <a:rPr lang="en-US" sz="1200" b="1" kern="0" spc="150" dirty="0">
                <a:solidFill>
                  <a:srgbClr val="5FB3A3"/>
                </a:solidFill>
                <a:latin typeface="Calibri" pitchFamily="34" charset="0"/>
                <a:ea typeface="Calibri" pitchFamily="34" charset="-122"/>
                <a:cs typeface="Calibri" pitchFamily="34" charset="-120"/>
              </a:rPr>
              <a:t>COMPUTACIÓN PARALELA · UNIVERSIDAD POLITÉCNICA SALESIANA — GUAYAQUIL, 2026</a:t>
            </a:r>
            <a:endParaRPr lang="en-US" sz="1200" dirty="0"/>
          </a:p>
        </p:txBody>
      </p:sp>
      <p:sp>
        <p:nvSpPr>
          <p:cNvPr id="5" name="Text 3"/>
          <p:cNvSpPr/>
          <p:nvPr/>
        </p:nvSpPr>
        <p:spPr>
          <a:xfrm>
            <a:off x="731520" y="1920240"/>
            <a:ext cx="1069848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Procesamiento Distribuido de</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Egresos Hospitalarios del INEC 2020–2024</a:t>
            </a:r>
            <a:endParaRPr lang="en-US" sz="4000" dirty="0"/>
          </a:p>
        </p:txBody>
      </p:sp>
      <p:sp>
        <p:nvSpPr>
          <p:cNvPr id="6" name="Text 4"/>
          <p:cNvSpPr/>
          <p:nvPr/>
        </p:nvSpPr>
        <p:spPr>
          <a:xfrm>
            <a:off x="731520" y="3611880"/>
            <a:ext cx="9144000" cy="50292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Pandas secuencial frente a Dask distribuido</a:t>
            </a:r>
            <a:endParaRPr lang="en-US" sz="1800" dirty="0"/>
          </a:p>
        </p:txBody>
      </p:sp>
      <p:sp>
        <p:nvSpPr>
          <p:cNvPr id="7" name="Shape 5"/>
          <p:cNvSpPr/>
          <p:nvPr/>
        </p:nvSpPr>
        <p:spPr>
          <a:xfrm>
            <a:off x="731520" y="4526280"/>
            <a:ext cx="3429000" cy="1417320"/>
          </a:xfrm>
          <a:prstGeom prst="roundRect">
            <a:avLst>
              <a:gd name="adj" fmla="val 5161"/>
            </a:avLst>
          </a:prstGeom>
          <a:solidFill>
            <a:srgbClr val="FFFFFF">
              <a:alpha val="8000"/>
            </a:srgbClr>
          </a:solidFill>
          <a:ln w="12700">
            <a:solidFill>
              <a:srgbClr val="1C7293"/>
            </a:solidFill>
            <a:prstDash val="solid"/>
          </a:ln>
        </p:spPr>
      </p:sp>
      <p:sp>
        <p:nvSpPr>
          <p:cNvPr id="8" name="Text 6"/>
          <p:cNvSpPr/>
          <p:nvPr/>
        </p:nvSpPr>
        <p:spPr>
          <a:xfrm>
            <a:off x="914400" y="4645152"/>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Gerardo Rocafuerte</a:t>
            </a:r>
            <a:endParaRPr lang="en-US" sz="1400" dirty="0"/>
          </a:p>
        </p:txBody>
      </p:sp>
      <p:sp>
        <p:nvSpPr>
          <p:cNvPr id="9" name="Text 7"/>
          <p:cNvSpPr/>
          <p:nvPr/>
        </p:nvSpPr>
        <p:spPr>
          <a:xfrm>
            <a:off x="914400" y="5010912"/>
            <a:ext cx="3063240" cy="86868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Apertura, datos, preprocesamiento y llave sintética</a:t>
            </a:r>
            <a:endParaRPr lang="en-US" sz="1000" dirty="0"/>
          </a:p>
        </p:txBody>
      </p:sp>
      <p:sp>
        <p:nvSpPr>
          <p:cNvPr id="10" name="Shape 8"/>
          <p:cNvSpPr/>
          <p:nvPr/>
        </p:nvSpPr>
        <p:spPr>
          <a:xfrm>
            <a:off x="4343400" y="4526280"/>
            <a:ext cx="3429000" cy="1417320"/>
          </a:xfrm>
          <a:prstGeom prst="roundRect">
            <a:avLst>
              <a:gd name="adj" fmla="val 5161"/>
            </a:avLst>
          </a:prstGeom>
          <a:solidFill>
            <a:srgbClr val="FFFFFF">
              <a:alpha val="8000"/>
            </a:srgbClr>
          </a:solidFill>
          <a:ln w="12700">
            <a:solidFill>
              <a:srgbClr val="1C7293"/>
            </a:solidFill>
            <a:prstDash val="solid"/>
          </a:ln>
        </p:spPr>
      </p:sp>
      <p:sp>
        <p:nvSpPr>
          <p:cNvPr id="11" name="Text 9"/>
          <p:cNvSpPr/>
          <p:nvPr/>
        </p:nvSpPr>
        <p:spPr>
          <a:xfrm>
            <a:off x="4526280" y="4645152"/>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Jull Licoa</a:t>
            </a:r>
            <a:endParaRPr lang="en-US" sz="1400" dirty="0"/>
          </a:p>
        </p:txBody>
      </p:sp>
      <p:sp>
        <p:nvSpPr>
          <p:cNvPr id="12" name="Text 10"/>
          <p:cNvSpPr/>
          <p:nvPr/>
        </p:nvSpPr>
        <p:spPr>
          <a:xfrm>
            <a:off x="4526280" y="5010912"/>
            <a:ext cx="3063240" cy="86868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Pipeline Dask, rendimiento, memoria, escalabilidad y Data Skew</a:t>
            </a:r>
            <a:endParaRPr lang="en-US" sz="1000" dirty="0"/>
          </a:p>
        </p:txBody>
      </p:sp>
      <p:sp>
        <p:nvSpPr>
          <p:cNvPr id="13" name="Shape 11"/>
          <p:cNvSpPr/>
          <p:nvPr/>
        </p:nvSpPr>
        <p:spPr>
          <a:xfrm>
            <a:off x="7955280" y="4526280"/>
            <a:ext cx="3429000" cy="1417320"/>
          </a:xfrm>
          <a:prstGeom prst="roundRect">
            <a:avLst>
              <a:gd name="adj" fmla="val 5161"/>
            </a:avLst>
          </a:prstGeom>
          <a:solidFill>
            <a:srgbClr val="FFFFFF">
              <a:alpha val="8000"/>
            </a:srgbClr>
          </a:solidFill>
          <a:ln w="12700">
            <a:solidFill>
              <a:srgbClr val="1C7293"/>
            </a:solidFill>
            <a:prstDash val="solid"/>
          </a:ln>
        </p:spPr>
      </p:sp>
      <p:sp>
        <p:nvSpPr>
          <p:cNvPr id="14" name="Text 12"/>
          <p:cNvSpPr/>
          <p:nvPr/>
        </p:nvSpPr>
        <p:spPr>
          <a:xfrm>
            <a:off x="8138160" y="4645152"/>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Marcos Echeverría</a:t>
            </a:r>
            <a:endParaRPr lang="en-US" sz="1400" dirty="0"/>
          </a:p>
        </p:txBody>
      </p:sp>
      <p:sp>
        <p:nvSpPr>
          <p:cNvPr id="15" name="Text 13"/>
          <p:cNvSpPr/>
          <p:nvPr/>
        </p:nvSpPr>
        <p:spPr>
          <a:xfrm>
            <a:off x="8138160" y="5010912"/>
            <a:ext cx="3063240" cy="86868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K-anonimato, validación, ética y conclusiones</a:t>
            </a:r>
            <a:endParaRPr lang="en-US" sz="1000" dirty="0"/>
          </a:p>
        </p:txBody>
      </p:sp>
      <p:sp>
        <p:nvSpPr>
          <p:cNvPr id="16" name="Text 14"/>
          <p:cNvSpPr/>
          <p:nvPr/>
        </p:nvSpPr>
        <p:spPr>
          <a:xfrm>
            <a:off x="731520" y="6172200"/>
            <a:ext cx="5486400" cy="365760"/>
          </a:xfrm>
          <a:prstGeom prst="rect">
            <a:avLst/>
          </a:prstGeom>
          <a:noFill/>
          <a:ln/>
        </p:spPr>
        <p:txBody>
          <a:bodyPr wrap="square" rtlCol="0" anchor="ctr"/>
          <a:lstStyle/>
          <a:p>
            <a:pPr marL="0" indent="0">
              <a:buNone/>
            </a:pPr>
            <a:r>
              <a:rPr lang="en-US" sz="1100" b="1" dirty="0">
                <a:solidFill>
                  <a:srgbClr val="E3B23C"/>
                </a:solidFill>
                <a:latin typeface="Calibri" pitchFamily="34" charset="0"/>
                <a:ea typeface="Calibri" pitchFamily="34" charset="-122"/>
                <a:cs typeface="Calibri" pitchFamily="34" charset="-120"/>
              </a:rPr>
              <a:t>Duración objetivo: 20 minutos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DIAPOSITIVA 2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Problema y contexto</a:t>
            </a:r>
            <a:endParaRPr lang="en-US" sz="3200" dirty="0"/>
          </a:p>
        </p:txBody>
      </p:sp>
      <p:sp>
        <p:nvSpPr>
          <p:cNvPr id="4" name="Text 2"/>
          <p:cNvSpPr/>
          <p:nvPr/>
        </p:nvSpPr>
        <p:spPr>
          <a:xfrm>
            <a:off x="548640" y="1737360"/>
            <a:ext cx="6126480" cy="1554480"/>
          </a:xfrm>
          <a:prstGeom prst="rect">
            <a:avLst/>
          </a:prstGeom>
          <a:noFill/>
          <a:ln/>
        </p:spPr>
        <p:txBody>
          <a:bodyPr wrap="square" rtlCol="0" anchor="ctr"/>
          <a:lstStyle/>
          <a:p>
            <a:pPr marL="0" indent="0">
              <a:lnSpc>
                <a:spcPct val="125000"/>
              </a:lnSpc>
              <a:buNone/>
            </a:pPr>
            <a:r>
              <a:rPr lang="en-US" sz="1500" dirty="0">
                <a:solidFill>
                  <a:srgbClr val="21295C"/>
                </a:solidFill>
                <a:latin typeface="Calibri" pitchFamily="34" charset="0"/>
                <a:ea typeface="Calibri" pitchFamily="34" charset="-122"/>
                <a:cs typeface="Calibri" pitchFamily="34" charset="-120"/>
              </a:rPr>
              <a:t>Cada fila de la base representa un evento de egreso hospitalario, no una persona identificada. Al unir cinco años, el volumen supera los cinco millones de eventos.</a:t>
            </a:r>
            <a:endParaRPr lang="en-US" sz="1500" dirty="0"/>
          </a:p>
        </p:txBody>
      </p:sp>
      <p:sp>
        <p:nvSpPr>
          <p:cNvPr id="5" name="Shape 3"/>
          <p:cNvSpPr/>
          <p:nvPr/>
        </p:nvSpPr>
        <p:spPr>
          <a:xfrm>
            <a:off x="548640" y="3429000"/>
            <a:ext cx="128016" cy="128016"/>
          </a:xfrm>
          <a:prstGeom prst="ellipse">
            <a:avLst/>
          </a:prstGeom>
          <a:solidFill>
            <a:srgbClr val="1C7293"/>
          </a:solidFill>
          <a:ln/>
        </p:spPr>
      </p:sp>
      <p:sp>
        <p:nvSpPr>
          <p:cNvPr id="6" name="Text 4"/>
          <p:cNvSpPr/>
          <p:nvPr/>
        </p:nvSpPr>
        <p:spPr>
          <a:xfrm>
            <a:off x="822960" y="3246120"/>
            <a:ext cx="5852160" cy="502920"/>
          </a:xfrm>
          <a:prstGeom prst="rect">
            <a:avLst/>
          </a:prstGeom>
          <a:noFill/>
          <a:ln/>
        </p:spPr>
        <p:txBody>
          <a:bodyPr wrap="square" rtlCol="0" anchor="ctr"/>
          <a:lstStyle/>
          <a:p>
            <a:pPr marL="0" indent="0">
              <a:buNone/>
            </a:pPr>
            <a:r>
              <a:rPr lang="en-US" sz="1300" dirty="0">
                <a:solidFill>
                  <a:srgbClr val="5A6B75"/>
                </a:solidFill>
                <a:latin typeface="Calibri" pitchFamily="34" charset="0"/>
                <a:ea typeface="Calibri" pitchFamily="34" charset="-122"/>
                <a:cs typeface="Calibri" pitchFamily="34" charset="-120"/>
              </a:rPr>
              <a:t>Evento de egreso no equivale a paciente identificado</a:t>
            </a:r>
            <a:endParaRPr lang="en-US" sz="1300" dirty="0"/>
          </a:p>
        </p:txBody>
      </p:sp>
      <p:sp>
        <p:nvSpPr>
          <p:cNvPr id="7" name="Shape 5"/>
          <p:cNvSpPr/>
          <p:nvPr/>
        </p:nvSpPr>
        <p:spPr>
          <a:xfrm>
            <a:off x="548640" y="3995928"/>
            <a:ext cx="128016" cy="128016"/>
          </a:xfrm>
          <a:prstGeom prst="ellipse">
            <a:avLst/>
          </a:prstGeom>
          <a:solidFill>
            <a:srgbClr val="1C7293"/>
          </a:solidFill>
          <a:ln/>
        </p:spPr>
      </p:sp>
      <p:sp>
        <p:nvSpPr>
          <p:cNvPr id="8" name="Text 6"/>
          <p:cNvSpPr/>
          <p:nvPr/>
        </p:nvSpPr>
        <p:spPr>
          <a:xfrm>
            <a:off x="822960" y="3813048"/>
            <a:ext cx="5852160" cy="502920"/>
          </a:xfrm>
          <a:prstGeom prst="rect">
            <a:avLst/>
          </a:prstGeom>
          <a:noFill/>
          <a:ln/>
        </p:spPr>
        <p:txBody>
          <a:bodyPr wrap="square" rtlCol="0" anchor="ctr"/>
          <a:lstStyle/>
          <a:p>
            <a:pPr marL="0" indent="0">
              <a:buNone/>
            </a:pPr>
            <a:r>
              <a:rPr lang="en-US" sz="1300" dirty="0">
                <a:solidFill>
                  <a:srgbClr val="5A6B75"/>
                </a:solidFill>
                <a:latin typeface="Calibri" pitchFamily="34" charset="0"/>
                <a:ea typeface="Calibri" pitchFamily="34" charset="-122"/>
                <a:cs typeface="Calibri" pitchFamily="34" charset="-120"/>
              </a:rPr>
              <a:t>El reto está en ordenar y agrupar millones de filas</a:t>
            </a:r>
            <a:endParaRPr lang="en-US" sz="1300" dirty="0"/>
          </a:p>
        </p:txBody>
      </p:sp>
      <p:sp>
        <p:nvSpPr>
          <p:cNvPr id="9" name="Shape 7"/>
          <p:cNvSpPr/>
          <p:nvPr/>
        </p:nvSpPr>
        <p:spPr>
          <a:xfrm>
            <a:off x="548640" y="4562856"/>
            <a:ext cx="128016" cy="128016"/>
          </a:xfrm>
          <a:prstGeom prst="ellipse">
            <a:avLst/>
          </a:prstGeom>
          <a:solidFill>
            <a:srgbClr val="1C7293"/>
          </a:solidFill>
          <a:ln/>
        </p:spPr>
      </p:sp>
      <p:sp>
        <p:nvSpPr>
          <p:cNvPr id="10" name="Text 8"/>
          <p:cNvSpPr/>
          <p:nvPr/>
        </p:nvSpPr>
        <p:spPr>
          <a:xfrm>
            <a:off x="822960" y="4379976"/>
            <a:ext cx="5852160" cy="502920"/>
          </a:xfrm>
          <a:prstGeom prst="rect">
            <a:avLst/>
          </a:prstGeom>
          <a:noFill/>
          <a:ln/>
        </p:spPr>
        <p:txBody>
          <a:bodyPr wrap="square" rtlCol="0" anchor="ctr"/>
          <a:lstStyle/>
          <a:p>
            <a:pPr marL="0" indent="0">
              <a:buNone/>
            </a:pPr>
            <a:r>
              <a:rPr lang="en-US" sz="1300" dirty="0">
                <a:solidFill>
                  <a:srgbClr val="5A6B75"/>
                </a:solidFill>
                <a:latin typeface="Calibri" pitchFamily="34" charset="0"/>
                <a:ea typeface="Calibri" pitchFamily="34" charset="-122"/>
                <a:cs typeface="Calibri" pitchFamily="34" charset="-120"/>
              </a:rPr>
              <a:t>La comparación mide rendimiento, memoria, exactitud y comportamiento del paralelismo</a:t>
            </a:r>
            <a:endParaRPr lang="en-US" sz="1300" dirty="0"/>
          </a:p>
        </p:txBody>
      </p:sp>
      <p:sp>
        <p:nvSpPr>
          <p:cNvPr id="11" name="Shape 9"/>
          <p:cNvSpPr/>
          <p:nvPr/>
        </p:nvSpPr>
        <p:spPr>
          <a:xfrm>
            <a:off x="7406640" y="1783080"/>
            <a:ext cx="1920240" cy="192024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12" name="Text 10"/>
          <p:cNvSpPr/>
          <p:nvPr/>
        </p:nvSpPr>
        <p:spPr>
          <a:xfrm>
            <a:off x="7406640" y="2128723"/>
            <a:ext cx="1920240" cy="864108"/>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5M+</a:t>
            </a:r>
            <a:endParaRPr lang="en-US" sz="2200" dirty="0"/>
          </a:p>
        </p:txBody>
      </p:sp>
      <p:sp>
        <p:nvSpPr>
          <p:cNvPr id="13" name="Text 11"/>
          <p:cNvSpPr/>
          <p:nvPr/>
        </p:nvSpPr>
        <p:spPr>
          <a:xfrm>
            <a:off x="7452360" y="2896819"/>
            <a:ext cx="1828800" cy="672084"/>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eventos hospitalarios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(2020–2024)</a:t>
            </a:r>
            <a:endParaRPr lang="en-US" sz="950" dirty="0"/>
          </a:p>
        </p:txBody>
      </p:sp>
      <p:sp>
        <p:nvSpPr>
          <p:cNvPr id="14" name="Shape 12"/>
          <p:cNvSpPr/>
          <p:nvPr/>
        </p:nvSpPr>
        <p:spPr>
          <a:xfrm>
            <a:off x="9601200" y="1783080"/>
            <a:ext cx="1920240" cy="192024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5" name="Text 13"/>
          <p:cNvSpPr/>
          <p:nvPr/>
        </p:nvSpPr>
        <p:spPr>
          <a:xfrm>
            <a:off x="9601200" y="2128723"/>
            <a:ext cx="1920240" cy="864108"/>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5</a:t>
            </a:r>
            <a:endParaRPr lang="en-US" sz="2200" dirty="0"/>
          </a:p>
        </p:txBody>
      </p:sp>
      <p:sp>
        <p:nvSpPr>
          <p:cNvPr id="16" name="Text 14"/>
          <p:cNvSpPr/>
          <p:nvPr/>
        </p:nvSpPr>
        <p:spPr>
          <a:xfrm>
            <a:off x="9646920" y="2896819"/>
            <a:ext cx="1828800" cy="672084"/>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años homologados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bajo una estructura</a:t>
            </a:r>
            <a:endParaRPr lang="en-US" sz="950" dirty="0"/>
          </a:p>
        </p:txBody>
      </p:sp>
      <p:sp>
        <p:nvSpPr>
          <p:cNvPr id="17" name="Shape 15"/>
          <p:cNvSpPr/>
          <p:nvPr/>
        </p:nvSpPr>
        <p:spPr>
          <a:xfrm>
            <a:off x="7406640" y="4114800"/>
            <a:ext cx="4206240" cy="1417320"/>
          </a:xfrm>
          <a:prstGeom prst="roundRect">
            <a:avLst>
              <a:gd name="adj" fmla="val 5161"/>
            </a:avLst>
          </a:prstGeom>
          <a:solidFill>
            <a:srgbClr val="FDEBE7"/>
          </a:solidFill>
          <a:ln/>
        </p:spPr>
      </p:sp>
      <p:sp>
        <p:nvSpPr>
          <p:cNvPr id="18" name="Text 16"/>
          <p:cNvSpPr/>
          <p:nvPr/>
        </p:nvSpPr>
        <p:spPr>
          <a:xfrm>
            <a:off x="7635240" y="4251960"/>
            <a:ext cx="3749040" cy="1188720"/>
          </a:xfrm>
          <a:prstGeom prst="rect">
            <a:avLst/>
          </a:prstGeom>
          <a:noFill/>
          <a:ln/>
        </p:spPr>
        <p:txBody>
          <a:bodyPr wrap="square" rtlCol="0" anchor="t"/>
          <a:lstStyle/>
          <a:p>
            <a:pPr marL="0" indent="0">
              <a:buNone/>
            </a:pPr>
            <a:r>
              <a:rPr lang="en-US" sz="1050" b="1" dirty="0">
                <a:solidFill>
                  <a:srgbClr val="E8664B"/>
                </a:solidFill>
                <a:latin typeface="Calibri" pitchFamily="34" charset="0"/>
                <a:ea typeface="Calibri" pitchFamily="34" charset="-122"/>
                <a:cs typeface="Calibri" pitchFamily="34" charset="-120"/>
              </a:rPr>
              <a:t>Evitar decir:  </a:t>
            </a:r>
            <a:r>
              <a:rPr lang="en-US" sz="1050" dirty="0">
                <a:solidFill>
                  <a:srgbClr val="21295C"/>
                </a:solidFill>
                <a:latin typeface="Calibri" pitchFamily="34" charset="0"/>
                <a:ea typeface="Calibri" pitchFamily="34" charset="-122"/>
                <a:cs typeface="Calibri" pitchFamily="34" charset="-120"/>
              </a:rPr>
              <a:t>“Reconstruimos la historia clínica de cada paciente”. La base no permite identificación individual.</a:t>
            </a:r>
            <a:endParaRPr lang="en-US" sz="1050" dirty="0"/>
          </a:p>
        </p:txBody>
      </p:sp>
      <p:sp>
        <p:nvSpPr>
          <p:cNvPr id="19" name="Shape 17"/>
          <p:cNvSpPr/>
          <p:nvPr/>
        </p:nvSpPr>
        <p:spPr>
          <a:xfrm>
            <a:off x="548640" y="5897880"/>
            <a:ext cx="11091672" cy="502920"/>
          </a:xfrm>
          <a:prstGeom prst="roundRect">
            <a:avLst>
              <a:gd name="adj" fmla="val 14545"/>
            </a:avLst>
          </a:prstGeom>
          <a:solidFill>
            <a:srgbClr val="065A82"/>
          </a:solidFill>
          <a:ln/>
        </p:spPr>
      </p:sp>
      <p:sp>
        <p:nvSpPr>
          <p:cNvPr id="20" name="Text 18"/>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Con ese contexto, pasamos a la preparación que permitió comparar los cinco años bajo una misma estructura.</a:t>
            </a:r>
            <a:endParaRPr lang="en-US" sz="1100" dirty="0"/>
          </a:p>
        </p:txBody>
      </p:sp>
      <p:sp>
        <p:nvSpPr>
          <p:cNvPr id="21" name="Text 19"/>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DIAPOSITIVA 3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Datos y preparación</a:t>
            </a:r>
            <a:endParaRPr lang="en-US" sz="3200" dirty="0"/>
          </a:p>
        </p:txBody>
      </p:sp>
      <p:sp>
        <p:nvSpPr>
          <p:cNvPr id="4" name="Shape 2"/>
          <p:cNvSpPr/>
          <p:nvPr/>
        </p:nvSpPr>
        <p:spPr>
          <a:xfrm>
            <a:off x="548640" y="1737360"/>
            <a:ext cx="2103120" cy="210312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5" name="Text 3"/>
          <p:cNvSpPr/>
          <p:nvPr/>
        </p:nvSpPr>
        <p:spPr>
          <a:xfrm>
            <a:off x="548640" y="2115922"/>
            <a:ext cx="2103120" cy="946404"/>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5,379,828</a:t>
            </a:r>
            <a:endParaRPr lang="en-US" sz="2200" dirty="0"/>
          </a:p>
        </p:txBody>
      </p:sp>
      <p:sp>
        <p:nvSpPr>
          <p:cNvPr id="6" name="Text 4"/>
          <p:cNvSpPr/>
          <p:nvPr/>
        </p:nvSpPr>
        <p:spPr>
          <a:xfrm>
            <a:off x="594360" y="2957170"/>
            <a:ext cx="2011680" cy="736092"/>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registros válidos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2020–2024</a:t>
            </a:r>
            <a:endParaRPr lang="en-US" sz="950" dirty="0"/>
          </a:p>
        </p:txBody>
      </p:sp>
      <p:sp>
        <p:nvSpPr>
          <p:cNvPr id="7" name="Text 5"/>
          <p:cNvSpPr/>
          <p:nvPr/>
        </p:nvSpPr>
        <p:spPr>
          <a:xfrm>
            <a:off x="3017520" y="1828800"/>
            <a:ext cx="4297680" cy="1737360"/>
          </a:xfrm>
          <a:prstGeom prst="rect">
            <a:avLst/>
          </a:prstGeom>
          <a:noFill/>
          <a:ln/>
        </p:spPr>
        <p:txBody>
          <a:bodyPr wrap="square" rtlCol="0" anchor="ctr"/>
          <a:lstStyle/>
          <a:p>
            <a:pPr marL="0" indent="0">
              <a:lnSpc>
                <a:spcPct val="125000"/>
              </a:lnSpc>
              <a:buNone/>
            </a:pPr>
            <a:r>
              <a:rPr lang="en-US" sz="1350" dirty="0">
                <a:solidFill>
                  <a:srgbClr val="21295C"/>
                </a:solidFill>
                <a:latin typeface="Calibri" pitchFamily="34" charset="0"/>
                <a:ea typeface="Calibri" pitchFamily="34" charset="-122"/>
                <a:cs typeface="Calibri" pitchFamily="34" charset="-120"/>
              </a:rPr>
              <a:t>Cobertura de todas las provincias, incluida Galápagos. Se homologaron variables entre publicaciones y se validaron dominios antes de convertir a Parquet.</a:t>
            </a:r>
            <a:endParaRPr lang="en-US" sz="1350" dirty="0"/>
          </a:p>
        </p:txBody>
      </p:sp>
      <p:sp>
        <p:nvSpPr>
          <p:cNvPr id="8" name="Shape 6"/>
          <p:cNvSpPr/>
          <p:nvPr/>
        </p:nvSpPr>
        <p:spPr>
          <a:xfrm>
            <a:off x="3017520" y="3611880"/>
            <a:ext cx="1417320" cy="457200"/>
          </a:xfrm>
          <a:prstGeom prst="roundRect">
            <a:avLst>
              <a:gd name="adj" fmla="val 50000"/>
            </a:avLst>
          </a:prstGeom>
          <a:solidFill>
            <a:srgbClr val="1C7293"/>
          </a:solidFill>
          <a:ln/>
        </p:spPr>
      </p:sp>
      <p:sp>
        <p:nvSpPr>
          <p:cNvPr id="9" name="Text 7"/>
          <p:cNvSpPr/>
          <p:nvPr/>
        </p:nvSpPr>
        <p:spPr>
          <a:xfrm>
            <a:off x="301752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Provincia</a:t>
            </a:r>
            <a:endParaRPr lang="en-US" sz="1000" dirty="0"/>
          </a:p>
        </p:txBody>
      </p:sp>
      <p:sp>
        <p:nvSpPr>
          <p:cNvPr id="10" name="Shape 8"/>
          <p:cNvSpPr/>
          <p:nvPr/>
        </p:nvSpPr>
        <p:spPr>
          <a:xfrm>
            <a:off x="4526280" y="3611880"/>
            <a:ext cx="1417320" cy="457200"/>
          </a:xfrm>
          <a:prstGeom prst="roundRect">
            <a:avLst>
              <a:gd name="adj" fmla="val 50000"/>
            </a:avLst>
          </a:prstGeom>
          <a:solidFill>
            <a:srgbClr val="1C7293"/>
          </a:solidFill>
          <a:ln/>
        </p:spPr>
      </p:sp>
      <p:sp>
        <p:nvSpPr>
          <p:cNvPr id="11" name="Text 9"/>
          <p:cNvSpPr/>
          <p:nvPr/>
        </p:nvSpPr>
        <p:spPr>
          <a:xfrm>
            <a:off x="452628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Sexo</a:t>
            </a:r>
            <a:endParaRPr lang="en-US" sz="1000" dirty="0"/>
          </a:p>
        </p:txBody>
      </p:sp>
      <p:sp>
        <p:nvSpPr>
          <p:cNvPr id="12" name="Shape 10"/>
          <p:cNvSpPr/>
          <p:nvPr/>
        </p:nvSpPr>
        <p:spPr>
          <a:xfrm>
            <a:off x="6035040" y="3611880"/>
            <a:ext cx="1417320" cy="457200"/>
          </a:xfrm>
          <a:prstGeom prst="roundRect">
            <a:avLst>
              <a:gd name="adj" fmla="val 50000"/>
            </a:avLst>
          </a:prstGeom>
          <a:solidFill>
            <a:srgbClr val="1C7293"/>
          </a:solidFill>
          <a:ln/>
        </p:spPr>
      </p:sp>
      <p:sp>
        <p:nvSpPr>
          <p:cNvPr id="13" name="Text 11"/>
          <p:cNvSpPr/>
          <p:nvPr/>
        </p:nvSpPr>
        <p:spPr>
          <a:xfrm>
            <a:off x="603504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Edad</a:t>
            </a:r>
            <a:endParaRPr lang="en-US" sz="1000" dirty="0"/>
          </a:p>
        </p:txBody>
      </p:sp>
      <p:sp>
        <p:nvSpPr>
          <p:cNvPr id="14" name="Shape 12"/>
          <p:cNvSpPr/>
          <p:nvPr/>
        </p:nvSpPr>
        <p:spPr>
          <a:xfrm>
            <a:off x="7543800" y="3611880"/>
            <a:ext cx="1417320" cy="457200"/>
          </a:xfrm>
          <a:prstGeom prst="roundRect">
            <a:avLst>
              <a:gd name="adj" fmla="val 50000"/>
            </a:avLst>
          </a:prstGeom>
          <a:solidFill>
            <a:srgbClr val="1C7293"/>
          </a:solidFill>
          <a:ln/>
        </p:spPr>
      </p:sp>
      <p:sp>
        <p:nvSpPr>
          <p:cNvPr id="15" name="Text 13"/>
          <p:cNvSpPr/>
          <p:nvPr/>
        </p:nvSpPr>
        <p:spPr>
          <a:xfrm>
            <a:off x="754380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Causa CIE-10</a:t>
            </a:r>
            <a:endParaRPr lang="en-US" sz="1000" dirty="0"/>
          </a:p>
        </p:txBody>
      </p:sp>
      <p:sp>
        <p:nvSpPr>
          <p:cNvPr id="16" name="Shape 14"/>
          <p:cNvSpPr/>
          <p:nvPr/>
        </p:nvSpPr>
        <p:spPr>
          <a:xfrm>
            <a:off x="9052560" y="3611880"/>
            <a:ext cx="1417320" cy="457200"/>
          </a:xfrm>
          <a:prstGeom prst="roundRect">
            <a:avLst>
              <a:gd name="adj" fmla="val 50000"/>
            </a:avLst>
          </a:prstGeom>
          <a:solidFill>
            <a:srgbClr val="1C7293"/>
          </a:solidFill>
          <a:ln/>
        </p:spPr>
      </p:sp>
      <p:sp>
        <p:nvSpPr>
          <p:cNvPr id="17" name="Text 15"/>
          <p:cNvSpPr/>
          <p:nvPr/>
        </p:nvSpPr>
        <p:spPr>
          <a:xfrm>
            <a:off x="905256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Fechas</a:t>
            </a:r>
            <a:endParaRPr lang="en-US" sz="1000" dirty="0"/>
          </a:p>
        </p:txBody>
      </p:sp>
      <p:sp>
        <p:nvSpPr>
          <p:cNvPr id="18" name="Shape 16"/>
          <p:cNvSpPr/>
          <p:nvPr/>
        </p:nvSpPr>
        <p:spPr>
          <a:xfrm>
            <a:off x="7772400" y="1737360"/>
            <a:ext cx="3840480" cy="2514600"/>
          </a:xfrm>
          <a:prstGeom prst="roundRect">
            <a:avLst>
              <a:gd name="adj" fmla="val 3636"/>
            </a:avLst>
          </a:prstGeom>
          <a:solidFill>
            <a:srgbClr val="FFFFFF"/>
          </a:solidFill>
          <a:ln w="12700">
            <a:solidFill>
              <a:srgbClr val="D8E2E7"/>
            </a:solidFill>
            <a:prstDash val="solid"/>
          </a:ln>
          <a:effectLst>
            <a:outerShdw blurRad="76200" dist="25400" dir="5400000" algn="bl" rotWithShape="0">
              <a:srgbClr val="1F2937">
                <a:alpha val="12000"/>
              </a:srgbClr>
            </a:outerShdw>
          </a:effectLst>
        </p:spPr>
      </p:sp>
      <p:sp>
        <p:nvSpPr>
          <p:cNvPr id="19" name="Text 17"/>
          <p:cNvSpPr/>
          <p:nvPr/>
        </p:nvSpPr>
        <p:spPr>
          <a:xfrm>
            <a:off x="8001000" y="1874520"/>
            <a:ext cx="3383280" cy="32004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Pipeline de preparación</a:t>
            </a:r>
            <a:endParaRPr lang="en-US" sz="1200" dirty="0"/>
          </a:p>
        </p:txBody>
      </p:sp>
      <p:sp>
        <p:nvSpPr>
          <p:cNvPr id="20" name="Shape 18"/>
          <p:cNvSpPr/>
          <p:nvPr/>
        </p:nvSpPr>
        <p:spPr>
          <a:xfrm>
            <a:off x="8001000" y="2286000"/>
            <a:ext cx="292608" cy="292608"/>
          </a:xfrm>
          <a:prstGeom prst="ellipse">
            <a:avLst/>
          </a:prstGeom>
          <a:solidFill>
            <a:srgbClr val="065A82"/>
          </a:solidFill>
          <a:ln/>
        </p:spPr>
      </p:sp>
      <p:sp>
        <p:nvSpPr>
          <p:cNvPr id="21" name="Text 19"/>
          <p:cNvSpPr/>
          <p:nvPr/>
        </p:nvSpPr>
        <p:spPr>
          <a:xfrm>
            <a:off x="8001000" y="228600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8412480" y="226771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Homologar variables</a:t>
            </a:r>
            <a:endParaRPr lang="en-US" sz="1100" dirty="0"/>
          </a:p>
        </p:txBody>
      </p:sp>
      <p:sp>
        <p:nvSpPr>
          <p:cNvPr id="23" name="Shape 21"/>
          <p:cNvSpPr/>
          <p:nvPr/>
        </p:nvSpPr>
        <p:spPr>
          <a:xfrm>
            <a:off x="8001000" y="2743200"/>
            <a:ext cx="292608" cy="292608"/>
          </a:xfrm>
          <a:prstGeom prst="ellipse">
            <a:avLst/>
          </a:prstGeom>
          <a:solidFill>
            <a:srgbClr val="065A82"/>
          </a:solidFill>
          <a:ln/>
        </p:spPr>
      </p:sp>
      <p:sp>
        <p:nvSpPr>
          <p:cNvPr id="24" name="Text 22"/>
          <p:cNvSpPr/>
          <p:nvPr/>
        </p:nvSpPr>
        <p:spPr>
          <a:xfrm>
            <a:off x="8001000" y="274320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3"/>
          <p:cNvSpPr/>
          <p:nvPr/>
        </p:nvSpPr>
        <p:spPr>
          <a:xfrm>
            <a:off x="8412480" y="272491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Validar dominios</a:t>
            </a:r>
            <a:endParaRPr lang="en-US" sz="1100" dirty="0"/>
          </a:p>
        </p:txBody>
      </p:sp>
      <p:sp>
        <p:nvSpPr>
          <p:cNvPr id="26" name="Shape 24"/>
          <p:cNvSpPr/>
          <p:nvPr/>
        </p:nvSpPr>
        <p:spPr>
          <a:xfrm>
            <a:off x="8001000" y="3200400"/>
            <a:ext cx="292608" cy="292608"/>
          </a:xfrm>
          <a:prstGeom prst="ellipse">
            <a:avLst/>
          </a:prstGeom>
          <a:solidFill>
            <a:srgbClr val="065A82"/>
          </a:solidFill>
          <a:ln/>
        </p:spPr>
      </p:sp>
      <p:sp>
        <p:nvSpPr>
          <p:cNvPr id="27" name="Text 25"/>
          <p:cNvSpPr/>
          <p:nvPr/>
        </p:nvSpPr>
        <p:spPr>
          <a:xfrm>
            <a:off x="8001000" y="320040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6"/>
          <p:cNvSpPr/>
          <p:nvPr/>
        </p:nvSpPr>
        <p:spPr>
          <a:xfrm>
            <a:off x="8412480" y="318211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Convertir fechas</a:t>
            </a:r>
            <a:endParaRPr lang="en-US" sz="1100" dirty="0"/>
          </a:p>
        </p:txBody>
      </p:sp>
      <p:sp>
        <p:nvSpPr>
          <p:cNvPr id="29" name="Shape 27"/>
          <p:cNvSpPr/>
          <p:nvPr/>
        </p:nvSpPr>
        <p:spPr>
          <a:xfrm>
            <a:off x="8001000" y="3657600"/>
            <a:ext cx="292608" cy="292608"/>
          </a:xfrm>
          <a:prstGeom prst="ellipse">
            <a:avLst/>
          </a:prstGeom>
          <a:solidFill>
            <a:srgbClr val="065A82"/>
          </a:solidFill>
          <a:ln/>
        </p:spPr>
      </p:sp>
      <p:sp>
        <p:nvSpPr>
          <p:cNvPr id="30" name="Text 28"/>
          <p:cNvSpPr/>
          <p:nvPr/>
        </p:nvSpPr>
        <p:spPr>
          <a:xfrm>
            <a:off x="8001000" y="365760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8412480" y="363931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Fragmentar en Parquet (100,000 registros)</a:t>
            </a:r>
            <a:endParaRPr lang="en-US" sz="1100" dirty="0"/>
          </a:p>
        </p:txBody>
      </p:sp>
      <p:sp>
        <p:nvSpPr>
          <p:cNvPr id="32" name="Text 30"/>
          <p:cNvSpPr/>
          <p:nvPr/>
        </p:nvSpPr>
        <p:spPr>
          <a:xfrm>
            <a:off x="548640" y="4343400"/>
            <a:ext cx="6766560" cy="548640"/>
          </a:xfrm>
          <a:prstGeom prst="rect">
            <a:avLst/>
          </a:prstGeom>
          <a:noFill/>
          <a:ln/>
        </p:spPr>
        <p:txBody>
          <a:bodyPr wrap="square" rtlCol="0" anchor="ctr"/>
          <a:lstStyle/>
          <a:p>
            <a:pPr marL="0" indent="0">
              <a:buNone/>
            </a:pPr>
            <a:r>
              <a:rPr lang="en-US" sz="1250" i="1" dirty="0">
                <a:solidFill>
                  <a:srgbClr val="1C7293"/>
                </a:solidFill>
                <a:latin typeface="Calibri" pitchFamily="34" charset="0"/>
                <a:ea typeface="Calibri" pitchFamily="34" charset="-122"/>
                <a:cs typeface="Calibri" pitchFamily="34" charset="-120"/>
              </a:rPr>
              <a:t>El control de calidad conservó prácticamente el cien por ciento de los datos válidos.</a:t>
            </a:r>
            <a:endParaRPr lang="en-US" sz="1250" dirty="0"/>
          </a:p>
        </p:txBody>
      </p:sp>
      <p:sp>
        <p:nvSpPr>
          <p:cNvPr id="33" name="Shape 31"/>
          <p:cNvSpPr/>
          <p:nvPr/>
        </p:nvSpPr>
        <p:spPr>
          <a:xfrm>
            <a:off x="548640" y="5897880"/>
            <a:ext cx="11091672" cy="502920"/>
          </a:xfrm>
          <a:prstGeom prst="roundRect">
            <a:avLst>
              <a:gd name="adj" fmla="val 14545"/>
            </a:avLst>
          </a:prstGeom>
          <a:solidFill>
            <a:srgbClr val="065A82"/>
          </a:solidFill>
          <a:ln/>
        </p:spPr>
      </p:sp>
      <p:sp>
        <p:nvSpPr>
          <p:cNvPr id="34" name="Text 32"/>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Una vez que todos los años tuvieron la misma estructura, construimos la llave que organiza los eventos por perfil epidemiológico.</a:t>
            </a:r>
            <a:endParaRPr lang="en-US" sz="1100" dirty="0"/>
          </a:p>
        </p:txBody>
      </p:sp>
      <p:sp>
        <p:nvSpPr>
          <p:cNvPr id="35" name="Text 33"/>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DIAPOSITIVA 4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Llave sintética y trayectorias</a:t>
            </a:r>
            <a:endParaRPr lang="en-US" sz="3200" dirty="0"/>
          </a:p>
        </p:txBody>
      </p:sp>
      <p:sp>
        <p:nvSpPr>
          <p:cNvPr id="4" name="Text 2"/>
          <p:cNvSpPr/>
          <p:nvPr/>
        </p:nvSpPr>
        <p:spPr>
          <a:xfrm>
            <a:off x="548640" y="1691640"/>
            <a:ext cx="10698480" cy="5486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La llave sintética combina cuatro componentes. No es un identificador personal: representa un perfil epidemiológico.</a:t>
            </a:r>
            <a:endParaRPr lang="en-US" sz="1400" dirty="0"/>
          </a:p>
        </p:txBody>
      </p:sp>
      <p:sp>
        <p:nvSpPr>
          <p:cNvPr id="5" name="Shape 3"/>
          <p:cNvSpPr/>
          <p:nvPr/>
        </p:nvSpPr>
        <p:spPr>
          <a:xfrm>
            <a:off x="548640" y="2468880"/>
            <a:ext cx="2331720" cy="1188720"/>
          </a:xfrm>
          <a:prstGeom prst="roundRect">
            <a:avLst>
              <a:gd name="adj" fmla="val 7692"/>
            </a:avLst>
          </a:prstGeom>
          <a:solidFill>
            <a:srgbClr val="065A82"/>
          </a:solidFill>
          <a:ln/>
        </p:spPr>
      </p:sp>
      <p:sp>
        <p:nvSpPr>
          <p:cNvPr id="6" name="Text 4"/>
          <p:cNvSpPr/>
          <p:nvPr/>
        </p:nvSpPr>
        <p:spPr>
          <a:xfrm>
            <a:off x="54864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CIE-10</a:t>
            </a:r>
            <a:endParaRPr lang="en-US" sz="1600" dirty="0"/>
          </a:p>
        </p:txBody>
      </p:sp>
      <p:sp>
        <p:nvSpPr>
          <p:cNvPr id="7" name="Text 5"/>
          <p:cNvSpPr/>
          <p:nvPr/>
        </p:nvSpPr>
        <p:spPr>
          <a:xfrm>
            <a:off x="54864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Capítulo</a:t>
            </a:r>
            <a:endParaRPr lang="en-US" sz="1050" dirty="0"/>
          </a:p>
        </p:txBody>
      </p:sp>
      <p:sp>
        <p:nvSpPr>
          <p:cNvPr id="8" name="Text 6"/>
          <p:cNvSpPr/>
          <p:nvPr/>
        </p:nvSpPr>
        <p:spPr>
          <a:xfrm>
            <a:off x="2880360" y="2651760"/>
            <a:ext cx="365760" cy="1005840"/>
          </a:xfrm>
          <a:prstGeom prst="rect">
            <a:avLst/>
          </a:prstGeom>
          <a:noFill/>
          <a:ln/>
        </p:spPr>
        <p:txBody>
          <a:bodyPr wrap="square" rtlCol="0" anchor="ctr"/>
          <a:lstStyle/>
          <a:p>
            <a:pPr marL="0" indent="0" algn="ctr">
              <a:buNone/>
            </a:pPr>
            <a:r>
              <a:rPr lang="en-US" sz="2400" b="1" dirty="0">
                <a:solidFill>
                  <a:srgbClr val="1C7293"/>
                </a:solidFill>
                <a:latin typeface="Cambria" pitchFamily="34" charset="0"/>
                <a:ea typeface="Cambria" pitchFamily="34" charset="-122"/>
                <a:cs typeface="Cambria" pitchFamily="34" charset="-120"/>
              </a:rPr>
              <a:t>+</a:t>
            </a:r>
            <a:endParaRPr lang="en-US" sz="2400" dirty="0"/>
          </a:p>
        </p:txBody>
      </p:sp>
      <p:sp>
        <p:nvSpPr>
          <p:cNvPr id="9" name="Shape 7"/>
          <p:cNvSpPr/>
          <p:nvPr/>
        </p:nvSpPr>
        <p:spPr>
          <a:xfrm>
            <a:off x="3246120" y="2468880"/>
            <a:ext cx="2331720" cy="1188720"/>
          </a:xfrm>
          <a:prstGeom prst="roundRect">
            <a:avLst>
              <a:gd name="adj" fmla="val 7692"/>
            </a:avLst>
          </a:prstGeom>
          <a:solidFill>
            <a:srgbClr val="065A82"/>
          </a:solidFill>
          <a:ln/>
        </p:spPr>
      </p:sp>
      <p:sp>
        <p:nvSpPr>
          <p:cNvPr id="10" name="Text 8"/>
          <p:cNvSpPr/>
          <p:nvPr/>
        </p:nvSpPr>
        <p:spPr>
          <a:xfrm>
            <a:off x="324612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Provincia</a:t>
            </a:r>
            <a:endParaRPr lang="en-US" sz="1600" dirty="0"/>
          </a:p>
        </p:txBody>
      </p:sp>
      <p:sp>
        <p:nvSpPr>
          <p:cNvPr id="11" name="Text 9"/>
          <p:cNvSpPr/>
          <p:nvPr/>
        </p:nvSpPr>
        <p:spPr>
          <a:xfrm>
            <a:off x="324612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Ubicación</a:t>
            </a:r>
            <a:endParaRPr lang="en-US" sz="1050" dirty="0"/>
          </a:p>
        </p:txBody>
      </p:sp>
      <p:sp>
        <p:nvSpPr>
          <p:cNvPr id="12" name="Text 10"/>
          <p:cNvSpPr/>
          <p:nvPr/>
        </p:nvSpPr>
        <p:spPr>
          <a:xfrm>
            <a:off x="5577840" y="2651760"/>
            <a:ext cx="365760" cy="1005840"/>
          </a:xfrm>
          <a:prstGeom prst="rect">
            <a:avLst/>
          </a:prstGeom>
          <a:noFill/>
          <a:ln/>
        </p:spPr>
        <p:txBody>
          <a:bodyPr wrap="square" rtlCol="0" anchor="ctr"/>
          <a:lstStyle/>
          <a:p>
            <a:pPr marL="0" indent="0" algn="ctr">
              <a:buNone/>
            </a:pPr>
            <a:r>
              <a:rPr lang="en-US" sz="2400" b="1" dirty="0">
                <a:solidFill>
                  <a:srgbClr val="1C7293"/>
                </a:solidFill>
                <a:latin typeface="Cambria" pitchFamily="34" charset="0"/>
                <a:ea typeface="Cambria" pitchFamily="34" charset="-122"/>
                <a:cs typeface="Cambria" pitchFamily="34" charset="-120"/>
              </a:rPr>
              <a:t>+</a:t>
            </a:r>
            <a:endParaRPr lang="en-US" sz="2400" dirty="0"/>
          </a:p>
        </p:txBody>
      </p:sp>
      <p:sp>
        <p:nvSpPr>
          <p:cNvPr id="13" name="Shape 11"/>
          <p:cNvSpPr/>
          <p:nvPr/>
        </p:nvSpPr>
        <p:spPr>
          <a:xfrm>
            <a:off x="5943600" y="2468880"/>
            <a:ext cx="2331720" cy="1188720"/>
          </a:xfrm>
          <a:prstGeom prst="roundRect">
            <a:avLst>
              <a:gd name="adj" fmla="val 7692"/>
            </a:avLst>
          </a:prstGeom>
          <a:solidFill>
            <a:srgbClr val="065A82"/>
          </a:solidFill>
          <a:ln/>
        </p:spPr>
      </p:sp>
      <p:sp>
        <p:nvSpPr>
          <p:cNvPr id="14" name="Text 12"/>
          <p:cNvSpPr/>
          <p:nvPr/>
        </p:nvSpPr>
        <p:spPr>
          <a:xfrm>
            <a:off x="594360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Sexo</a:t>
            </a:r>
            <a:endParaRPr lang="en-US" sz="1600" dirty="0"/>
          </a:p>
        </p:txBody>
      </p:sp>
      <p:sp>
        <p:nvSpPr>
          <p:cNvPr id="15" name="Text 13"/>
          <p:cNvSpPr/>
          <p:nvPr/>
        </p:nvSpPr>
        <p:spPr>
          <a:xfrm>
            <a:off x="594360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Perfil</a:t>
            </a:r>
            <a:endParaRPr lang="en-US" sz="1050" dirty="0"/>
          </a:p>
        </p:txBody>
      </p:sp>
      <p:sp>
        <p:nvSpPr>
          <p:cNvPr id="16" name="Text 14"/>
          <p:cNvSpPr/>
          <p:nvPr/>
        </p:nvSpPr>
        <p:spPr>
          <a:xfrm>
            <a:off x="8275320" y="2651760"/>
            <a:ext cx="365760" cy="1005840"/>
          </a:xfrm>
          <a:prstGeom prst="rect">
            <a:avLst/>
          </a:prstGeom>
          <a:noFill/>
          <a:ln/>
        </p:spPr>
        <p:txBody>
          <a:bodyPr wrap="square" rtlCol="0" anchor="ctr"/>
          <a:lstStyle/>
          <a:p>
            <a:pPr marL="0" indent="0" algn="ctr">
              <a:buNone/>
            </a:pPr>
            <a:r>
              <a:rPr lang="en-US" sz="2400" b="1" dirty="0">
                <a:solidFill>
                  <a:srgbClr val="1C7293"/>
                </a:solidFill>
                <a:latin typeface="Cambria" pitchFamily="34" charset="0"/>
                <a:ea typeface="Cambria" pitchFamily="34" charset="-122"/>
                <a:cs typeface="Cambria" pitchFamily="34" charset="-120"/>
              </a:rPr>
              <a:t>+</a:t>
            </a:r>
            <a:endParaRPr lang="en-US" sz="2400" dirty="0"/>
          </a:p>
        </p:txBody>
      </p:sp>
      <p:sp>
        <p:nvSpPr>
          <p:cNvPr id="17" name="Shape 15"/>
          <p:cNvSpPr/>
          <p:nvPr/>
        </p:nvSpPr>
        <p:spPr>
          <a:xfrm>
            <a:off x="8641080" y="2468880"/>
            <a:ext cx="2331720" cy="1188720"/>
          </a:xfrm>
          <a:prstGeom prst="roundRect">
            <a:avLst>
              <a:gd name="adj" fmla="val 7692"/>
            </a:avLst>
          </a:prstGeom>
          <a:solidFill>
            <a:srgbClr val="065A82"/>
          </a:solidFill>
          <a:ln/>
        </p:spPr>
      </p:sp>
      <p:sp>
        <p:nvSpPr>
          <p:cNvPr id="18" name="Text 16"/>
          <p:cNvSpPr/>
          <p:nvPr/>
        </p:nvSpPr>
        <p:spPr>
          <a:xfrm>
            <a:off x="864108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Rango etario</a:t>
            </a:r>
            <a:endParaRPr lang="en-US" sz="1600" dirty="0"/>
          </a:p>
        </p:txBody>
      </p:sp>
      <p:sp>
        <p:nvSpPr>
          <p:cNvPr id="19" name="Text 17"/>
          <p:cNvSpPr/>
          <p:nvPr/>
        </p:nvSpPr>
        <p:spPr>
          <a:xfrm>
            <a:off x="864108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Edad</a:t>
            </a:r>
            <a:endParaRPr lang="en-US" sz="1050" dirty="0"/>
          </a:p>
        </p:txBody>
      </p:sp>
      <p:sp>
        <p:nvSpPr>
          <p:cNvPr id="20" name="Text 18"/>
          <p:cNvSpPr/>
          <p:nvPr/>
        </p:nvSpPr>
        <p:spPr>
          <a:xfrm>
            <a:off x="548640" y="3977640"/>
            <a:ext cx="6675120" cy="777240"/>
          </a:xfrm>
          <a:prstGeom prst="rect">
            <a:avLst/>
          </a:prstGeom>
          <a:noFill/>
          <a:ln/>
        </p:spPr>
        <p:txBody>
          <a:bodyPr wrap="square" rtlCol="0" anchor="ctr"/>
          <a:lstStyle/>
          <a:p>
            <a:pPr marL="0" indent="0">
              <a:lnSpc>
                <a:spcPct val="120000"/>
              </a:lnSpc>
              <a:buNone/>
            </a:pPr>
            <a:r>
              <a:rPr lang="en-US" sz="1250" dirty="0">
                <a:solidFill>
                  <a:srgbClr val="21295C"/>
                </a:solidFill>
                <a:latin typeface="Calibri" pitchFamily="34" charset="0"/>
                <a:ea typeface="Calibri" pitchFamily="34" charset="-122"/>
                <a:cs typeface="Calibri" pitchFamily="34" charset="-120"/>
              </a:rPr>
              <a:t>Dentro de cada perfil, los eventos se ordenan por fecha de ingreso y egreso. Se marca reingreso crítico cuando existe un nuevo ingreso dentro de la ventana temporal:</a:t>
            </a:r>
            <a:endParaRPr lang="en-US" sz="1250" dirty="0"/>
          </a:p>
        </p:txBody>
      </p:sp>
      <p:sp>
        <p:nvSpPr>
          <p:cNvPr id="21" name="Shape 19"/>
          <p:cNvSpPr/>
          <p:nvPr/>
        </p:nvSpPr>
        <p:spPr>
          <a:xfrm>
            <a:off x="7589520" y="3840480"/>
            <a:ext cx="1737360" cy="173736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22" name="Text 20"/>
          <p:cNvSpPr/>
          <p:nvPr/>
        </p:nvSpPr>
        <p:spPr>
          <a:xfrm>
            <a:off x="7589520" y="4153205"/>
            <a:ext cx="1737360" cy="781812"/>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0–30</a:t>
            </a:r>
            <a:endParaRPr lang="en-US" sz="2200" dirty="0"/>
          </a:p>
        </p:txBody>
      </p:sp>
      <p:sp>
        <p:nvSpPr>
          <p:cNvPr id="23" name="Text 21"/>
          <p:cNvSpPr/>
          <p:nvPr/>
        </p:nvSpPr>
        <p:spPr>
          <a:xfrm>
            <a:off x="7635240" y="484814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días de ventana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de reingreso</a:t>
            </a:r>
            <a:endParaRPr lang="en-US" sz="950" dirty="0"/>
          </a:p>
        </p:txBody>
      </p:sp>
      <p:sp>
        <p:nvSpPr>
          <p:cNvPr id="24" name="Text 22"/>
          <p:cNvSpPr/>
          <p:nvPr/>
        </p:nvSpPr>
        <p:spPr>
          <a:xfrm>
            <a:off x="9509760" y="4297680"/>
            <a:ext cx="2148840" cy="914400"/>
          </a:xfrm>
          <a:prstGeom prst="rect">
            <a:avLst/>
          </a:prstGeom>
          <a:noFill/>
          <a:ln/>
        </p:spPr>
        <p:txBody>
          <a:bodyPr wrap="square" rtlCol="0" anchor="ctr"/>
          <a:lstStyle/>
          <a:p>
            <a:pPr marL="0" indent="0">
              <a:buNone/>
            </a:pPr>
            <a:r>
              <a:rPr lang="en-US" sz="1050" i="1" dirty="0">
                <a:solidFill>
                  <a:srgbClr val="1C7293"/>
                </a:solidFill>
                <a:latin typeface="Calibri" pitchFamily="34" charset="0"/>
                <a:ea typeface="Calibri" pitchFamily="34" charset="-122"/>
                <a:cs typeface="Calibri" pitchFamily="34" charset="-120"/>
              </a:rPr>
              <a:t>Misma regla aplicada exactamente igual en Pandas y Dask.</a:t>
            </a:r>
            <a:endParaRPr lang="en-US" sz="1050" dirty="0"/>
          </a:p>
        </p:txBody>
      </p:sp>
      <p:sp>
        <p:nvSpPr>
          <p:cNvPr id="25" name="Shape 23"/>
          <p:cNvSpPr/>
          <p:nvPr/>
        </p:nvSpPr>
        <p:spPr>
          <a:xfrm>
            <a:off x="548640" y="4983480"/>
            <a:ext cx="6675120" cy="685800"/>
          </a:xfrm>
          <a:prstGeom prst="roundRect">
            <a:avLst>
              <a:gd name="adj" fmla="val 10667"/>
            </a:avLst>
          </a:prstGeom>
          <a:solidFill>
            <a:srgbClr val="FDEBE7"/>
          </a:solidFill>
          <a:ln/>
        </p:spPr>
      </p:sp>
      <p:sp>
        <p:nvSpPr>
          <p:cNvPr id="26" name="Text 24"/>
          <p:cNvSpPr/>
          <p:nvPr/>
        </p:nvSpPr>
        <p:spPr>
          <a:xfrm>
            <a:off x="731520" y="4983480"/>
            <a:ext cx="6309360" cy="685800"/>
          </a:xfrm>
          <a:prstGeom prst="rect">
            <a:avLst/>
          </a:prstGeom>
          <a:noFill/>
          <a:ln/>
        </p:spPr>
        <p:txBody>
          <a:bodyPr wrap="square" rtlCol="0" anchor="ctr"/>
          <a:lstStyle/>
          <a:p>
            <a:pPr marL="0" indent="0">
              <a:buNone/>
            </a:pPr>
            <a:r>
              <a:rPr lang="en-US" sz="1050" b="1" dirty="0">
                <a:solidFill>
                  <a:srgbClr val="E8664B"/>
                </a:solidFill>
                <a:latin typeface="Calibri" pitchFamily="34" charset="0"/>
                <a:ea typeface="Calibri" pitchFamily="34" charset="-122"/>
                <a:cs typeface="Calibri" pitchFamily="34" charset="-120"/>
              </a:rPr>
              <a:t>Evitar decir:  </a:t>
            </a:r>
            <a:r>
              <a:rPr lang="en-US" sz="1050" dirty="0">
                <a:solidFill>
                  <a:srgbClr val="21295C"/>
                </a:solidFill>
                <a:latin typeface="Calibri" pitchFamily="34" charset="0"/>
                <a:ea typeface="Calibri" pitchFamily="34" charset="-122"/>
                <a:cs typeface="Calibri" pitchFamily="34" charset="-120"/>
              </a:rPr>
              <a:t>“La llave identifica a una persona” — agrupa eventos con características equivalentes.</a:t>
            </a:r>
            <a:endParaRPr lang="en-US" sz="1050" dirty="0"/>
          </a:p>
        </p:txBody>
      </p:sp>
      <p:sp>
        <p:nvSpPr>
          <p:cNvPr id="27" name="Shape 25"/>
          <p:cNvSpPr/>
          <p:nvPr/>
        </p:nvSpPr>
        <p:spPr>
          <a:xfrm>
            <a:off x="548640" y="5897880"/>
            <a:ext cx="11091672" cy="502920"/>
          </a:xfrm>
          <a:prstGeom prst="roundRect">
            <a:avLst>
              <a:gd name="adj" fmla="val 14545"/>
            </a:avLst>
          </a:prstGeom>
          <a:solidFill>
            <a:srgbClr val="065A82"/>
          </a:solidFill>
          <a:ln/>
        </p:spPr>
      </p:sp>
      <p:sp>
        <p:nvSpPr>
          <p:cNvPr id="28" name="Text 26"/>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Con los datos y la lógica definidos, Jull explicará cómo se implementaron las dos versiones y qué ocurrió al paralelizar el procesamiento.</a:t>
            </a:r>
            <a:endParaRPr lang="en-US" sz="1100" dirty="0"/>
          </a:p>
        </p:txBody>
      </p:sp>
      <p:sp>
        <p:nvSpPr>
          <p:cNvPr id="29" name="Text 27"/>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5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Pipeline dual: Pandas y Dask</a:t>
            </a:r>
            <a:endParaRPr lang="en-US" sz="3200" dirty="0"/>
          </a:p>
        </p:txBody>
      </p:sp>
      <p:sp>
        <p:nvSpPr>
          <p:cNvPr id="4" name="Shape 2"/>
          <p:cNvSpPr/>
          <p:nvPr/>
        </p:nvSpPr>
        <p:spPr>
          <a:xfrm>
            <a:off x="548640" y="1737360"/>
            <a:ext cx="5212080" cy="2926080"/>
          </a:xfrm>
          <a:prstGeom prst="roundRect">
            <a:avLst>
              <a:gd name="adj" fmla="val 3125"/>
            </a:avLst>
          </a:prstGeom>
          <a:solidFill>
            <a:srgbClr val="FFFFFF"/>
          </a:solidFill>
          <a:ln w="12700">
            <a:solidFill>
              <a:srgbClr val="D8E2E7"/>
            </a:solidFill>
            <a:prstDash val="solid"/>
          </a:ln>
        </p:spPr>
      </p:sp>
      <p:sp>
        <p:nvSpPr>
          <p:cNvPr id="5" name="Text 3"/>
          <p:cNvSpPr/>
          <p:nvPr/>
        </p:nvSpPr>
        <p:spPr>
          <a:xfrm>
            <a:off x="822960" y="1920240"/>
            <a:ext cx="466344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Pandas — secuencial</a:t>
            </a:r>
            <a:endParaRPr lang="en-US" sz="1400" dirty="0"/>
          </a:p>
        </p:txBody>
      </p:sp>
      <p:sp>
        <p:nvSpPr>
          <p:cNvPr id="6" name="Text 4"/>
          <p:cNvSpPr/>
          <p:nvPr/>
        </p:nvSpPr>
        <p:spPr>
          <a:xfrm>
            <a:off x="822960" y="2331720"/>
            <a:ext cx="4663440" cy="6858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Carga los datos, construye la llave, ordena y agrega de manera secuencial en memoria.</a:t>
            </a:r>
            <a:endParaRPr lang="en-US" sz="1150" dirty="0"/>
          </a:p>
        </p:txBody>
      </p:sp>
      <p:sp>
        <p:nvSpPr>
          <p:cNvPr id="7" name="Shape 5"/>
          <p:cNvSpPr/>
          <p:nvPr/>
        </p:nvSpPr>
        <p:spPr>
          <a:xfrm>
            <a:off x="822960" y="3200400"/>
            <a:ext cx="1051560" cy="502920"/>
          </a:xfrm>
          <a:prstGeom prst="roundRect">
            <a:avLst>
              <a:gd name="adj" fmla="val 10909"/>
            </a:avLst>
          </a:prstGeom>
          <a:solidFill>
            <a:srgbClr val="1C7293"/>
          </a:solidFill>
          <a:ln/>
        </p:spPr>
      </p:sp>
      <p:sp>
        <p:nvSpPr>
          <p:cNvPr id="8" name="Text 6"/>
          <p:cNvSpPr/>
          <p:nvPr/>
        </p:nvSpPr>
        <p:spPr>
          <a:xfrm>
            <a:off x="822960"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Load</a:t>
            </a:r>
            <a:endParaRPr lang="en-US" sz="900" dirty="0"/>
          </a:p>
        </p:txBody>
      </p:sp>
      <p:sp>
        <p:nvSpPr>
          <p:cNvPr id="9" name="Shape 7"/>
          <p:cNvSpPr/>
          <p:nvPr/>
        </p:nvSpPr>
        <p:spPr>
          <a:xfrm>
            <a:off x="2029968" y="3200400"/>
            <a:ext cx="1051560" cy="502920"/>
          </a:xfrm>
          <a:prstGeom prst="roundRect">
            <a:avLst>
              <a:gd name="adj" fmla="val 10909"/>
            </a:avLst>
          </a:prstGeom>
          <a:solidFill>
            <a:srgbClr val="1C7293"/>
          </a:solidFill>
          <a:ln/>
        </p:spPr>
      </p:sp>
      <p:sp>
        <p:nvSpPr>
          <p:cNvPr id="10" name="Text 8"/>
          <p:cNvSpPr/>
          <p:nvPr/>
        </p:nvSpPr>
        <p:spPr>
          <a:xfrm>
            <a:off x="2029968"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Build key</a:t>
            </a:r>
            <a:endParaRPr lang="en-US" sz="900" dirty="0"/>
          </a:p>
        </p:txBody>
      </p:sp>
      <p:sp>
        <p:nvSpPr>
          <p:cNvPr id="11" name="Shape 9"/>
          <p:cNvSpPr/>
          <p:nvPr/>
        </p:nvSpPr>
        <p:spPr>
          <a:xfrm>
            <a:off x="3236976" y="3200400"/>
            <a:ext cx="1051560" cy="502920"/>
          </a:xfrm>
          <a:prstGeom prst="roundRect">
            <a:avLst>
              <a:gd name="adj" fmla="val 10909"/>
            </a:avLst>
          </a:prstGeom>
          <a:solidFill>
            <a:srgbClr val="1C7293"/>
          </a:solidFill>
          <a:ln/>
        </p:spPr>
      </p:sp>
      <p:sp>
        <p:nvSpPr>
          <p:cNvPr id="12" name="Text 10"/>
          <p:cNvSpPr/>
          <p:nvPr/>
        </p:nvSpPr>
        <p:spPr>
          <a:xfrm>
            <a:off x="3236976"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Sort</a:t>
            </a:r>
            <a:endParaRPr lang="en-US" sz="900" dirty="0"/>
          </a:p>
        </p:txBody>
      </p:sp>
      <p:sp>
        <p:nvSpPr>
          <p:cNvPr id="13" name="Shape 11"/>
          <p:cNvSpPr/>
          <p:nvPr/>
        </p:nvSpPr>
        <p:spPr>
          <a:xfrm>
            <a:off x="4443984" y="3200400"/>
            <a:ext cx="1051560" cy="502920"/>
          </a:xfrm>
          <a:prstGeom prst="roundRect">
            <a:avLst>
              <a:gd name="adj" fmla="val 10909"/>
            </a:avLst>
          </a:prstGeom>
          <a:solidFill>
            <a:srgbClr val="1C7293"/>
          </a:solidFill>
          <a:ln/>
        </p:spPr>
      </p:sp>
      <p:sp>
        <p:nvSpPr>
          <p:cNvPr id="14" name="Text 12"/>
          <p:cNvSpPr/>
          <p:nvPr/>
        </p:nvSpPr>
        <p:spPr>
          <a:xfrm>
            <a:off x="4443984"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Aggregate</a:t>
            </a:r>
            <a:endParaRPr lang="en-US" sz="900" dirty="0"/>
          </a:p>
        </p:txBody>
      </p:sp>
      <p:sp>
        <p:nvSpPr>
          <p:cNvPr id="15" name="Text 13"/>
          <p:cNvSpPr/>
          <p:nvPr/>
        </p:nvSpPr>
        <p:spPr>
          <a:xfrm>
            <a:off x="822960" y="3977640"/>
            <a:ext cx="4663440" cy="548640"/>
          </a:xfrm>
          <a:prstGeom prst="rect">
            <a:avLst/>
          </a:prstGeom>
          <a:noFill/>
          <a:ln/>
        </p:spPr>
        <p:txBody>
          <a:bodyPr wrap="square" rtlCol="0" anchor="ctr"/>
          <a:lstStyle/>
          <a:p>
            <a:pPr marL="0" indent="0">
              <a:buNone/>
            </a:pPr>
            <a:r>
              <a:rPr lang="en-US" sz="1100" i="1" dirty="0">
                <a:solidFill>
                  <a:srgbClr val="5A6B75"/>
                </a:solidFill>
                <a:latin typeface="Calibri" pitchFamily="34" charset="0"/>
                <a:ea typeface="Calibri" pitchFamily="34" charset="-122"/>
                <a:cs typeface="Calibri" pitchFamily="34" charset="-120"/>
              </a:rPr>
              <a:t>Procesamiento único, sin partición ni coordinación entre procesos.</a:t>
            </a:r>
            <a:endParaRPr lang="en-US" sz="1100" dirty="0"/>
          </a:p>
        </p:txBody>
      </p:sp>
      <p:sp>
        <p:nvSpPr>
          <p:cNvPr id="16" name="Shape 14"/>
          <p:cNvSpPr/>
          <p:nvPr/>
        </p:nvSpPr>
        <p:spPr>
          <a:xfrm>
            <a:off x="6035040" y="1737360"/>
            <a:ext cx="5577840" cy="2926080"/>
          </a:xfrm>
          <a:prstGeom prst="roundRect">
            <a:avLst>
              <a:gd name="adj" fmla="val 3125"/>
            </a:avLst>
          </a:prstGeom>
          <a:solidFill>
            <a:srgbClr val="065A82"/>
          </a:solidFill>
          <a:ln/>
        </p:spPr>
      </p:sp>
      <p:sp>
        <p:nvSpPr>
          <p:cNvPr id="17" name="Text 15"/>
          <p:cNvSpPr/>
          <p:nvPr/>
        </p:nvSpPr>
        <p:spPr>
          <a:xfrm>
            <a:off x="6309360" y="192024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Dask — distribuido</a:t>
            </a:r>
            <a:endParaRPr lang="en-US" sz="1400" dirty="0"/>
          </a:p>
        </p:txBody>
      </p:sp>
      <p:sp>
        <p:nvSpPr>
          <p:cNvPr id="18" name="Text 16"/>
          <p:cNvSpPr/>
          <p:nvPr/>
        </p:nvSpPr>
        <p:spPr>
          <a:xfrm>
            <a:off x="6309360" y="2331720"/>
            <a:ext cx="5029200" cy="5486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Lectura perezosa con blocksize objetivo de 128 MiB, particionada desde el inicio.</a:t>
            </a:r>
            <a:endParaRPr lang="en-US" sz="1150" dirty="0"/>
          </a:p>
        </p:txBody>
      </p:sp>
      <p:sp>
        <p:nvSpPr>
          <p:cNvPr id="19" name="Shape 17"/>
          <p:cNvSpPr/>
          <p:nvPr/>
        </p:nvSpPr>
        <p:spPr>
          <a:xfrm>
            <a:off x="6309360" y="3063240"/>
            <a:ext cx="1051560" cy="502920"/>
          </a:xfrm>
          <a:prstGeom prst="roundRect">
            <a:avLst>
              <a:gd name="adj" fmla="val 10909"/>
            </a:avLst>
          </a:prstGeom>
          <a:solidFill>
            <a:srgbClr val="5FB3A3"/>
          </a:solidFill>
          <a:ln/>
        </p:spPr>
      </p:sp>
      <p:sp>
        <p:nvSpPr>
          <p:cNvPr id="20" name="Text 18"/>
          <p:cNvSpPr/>
          <p:nvPr/>
        </p:nvSpPr>
        <p:spPr>
          <a:xfrm>
            <a:off x="6309360"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Load</a:t>
            </a:r>
            <a:endParaRPr lang="en-US" sz="900" dirty="0"/>
          </a:p>
        </p:txBody>
      </p:sp>
      <p:sp>
        <p:nvSpPr>
          <p:cNvPr id="21" name="Shape 19"/>
          <p:cNvSpPr/>
          <p:nvPr/>
        </p:nvSpPr>
        <p:spPr>
          <a:xfrm>
            <a:off x="7516368" y="3063240"/>
            <a:ext cx="1051560" cy="502920"/>
          </a:xfrm>
          <a:prstGeom prst="roundRect">
            <a:avLst>
              <a:gd name="adj" fmla="val 10909"/>
            </a:avLst>
          </a:prstGeom>
          <a:solidFill>
            <a:srgbClr val="5FB3A3"/>
          </a:solidFill>
          <a:ln/>
        </p:spPr>
      </p:sp>
      <p:sp>
        <p:nvSpPr>
          <p:cNvPr id="22" name="Text 20"/>
          <p:cNvSpPr/>
          <p:nvPr/>
        </p:nvSpPr>
        <p:spPr>
          <a:xfrm>
            <a:off x="7516368"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Map</a:t>
            </a:r>
            <a:endParaRPr lang="en-US" sz="900" dirty="0"/>
          </a:p>
        </p:txBody>
      </p:sp>
      <p:sp>
        <p:nvSpPr>
          <p:cNvPr id="23" name="Shape 21"/>
          <p:cNvSpPr/>
          <p:nvPr/>
        </p:nvSpPr>
        <p:spPr>
          <a:xfrm>
            <a:off x="8723376" y="3063240"/>
            <a:ext cx="1051560" cy="502920"/>
          </a:xfrm>
          <a:prstGeom prst="roundRect">
            <a:avLst>
              <a:gd name="adj" fmla="val 10909"/>
            </a:avLst>
          </a:prstGeom>
          <a:solidFill>
            <a:srgbClr val="5FB3A3"/>
          </a:solidFill>
          <a:ln/>
        </p:spPr>
      </p:sp>
      <p:sp>
        <p:nvSpPr>
          <p:cNvPr id="24" name="Text 22"/>
          <p:cNvSpPr/>
          <p:nvPr/>
        </p:nvSpPr>
        <p:spPr>
          <a:xfrm>
            <a:off x="8723376"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Shuffle</a:t>
            </a:r>
            <a:endParaRPr lang="en-US" sz="900" dirty="0"/>
          </a:p>
        </p:txBody>
      </p:sp>
      <p:sp>
        <p:nvSpPr>
          <p:cNvPr id="25" name="Shape 23"/>
          <p:cNvSpPr/>
          <p:nvPr/>
        </p:nvSpPr>
        <p:spPr>
          <a:xfrm>
            <a:off x="9930384" y="3063240"/>
            <a:ext cx="1051560" cy="502920"/>
          </a:xfrm>
          <a:prstGeom prst="roundRect">
            <a:avLst>
              <a:gd name="adj" fmla="val 10909"/>
            </a:avLst>
          </a:prstGeom>
          <a:solidFill>
            <a:srgbClr val="5FB3A3"/>
          </a:solidFill>
          <a:ln/>
        </p:spPr>
      </p:sp>
      <p:sp>
        <p:nvSpPr>
          <p:cNvPr id="26" name="Text 24"/>
          <p:cNvSpPr/>
          <p:nvPr/>
        </p:nvSpPr>
        <p:spPr>
          <a:xfrm>
            <a:off x="9930384"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Reduce</a:t>
            </a:r>
            <a:endParaRPr lang="en-US" sz="900" dirty="0"/>
          </a:p>
        </p:txBody>
      </p:sp>
      <p:sp>
        <p:nvSpPr>
          <p:cNvPr id="27" name="Text 25"/>
          <p:cNvSpPr/>
          <p:nvPr/>
        </p:nvSpPr>
        <p:spPr>
          <a:xfrm>
            <a:off x="6309360" y="3703320"/>
            <a:ext cx="5029200" cy="868680"/>
          </a:xfrm>
          <a:prstGeom prst="rect">
            <a:avLst/>
          </a:prstGeom>
          <a:noFill/>
          <a:ln/>
        </p:spPr>
        <p:txBody>
          <a:bodyPr wrap="square" rtlCol="0" anchor="ctr"/>
          <a:lstStyle/>
          <a:p>
            <a:pPr marL="0" indent="0">
              <a:lnSpc>
                <a:spcPct val="115000"/>
              </a:lnSpc>
              <a:buNone/>
            </a:pPr>
            <a:r>
              <a:rPr lang="en-US" sz="1100" dirty="0">
                <a:solidFill>
                  <a:srgbClr val="CADCFC"/>
                </a:solidFill>
                <a:latin typeface="Calibri" pitchFamily="34" charset="0"/>
                <a:ea typeface="Calibri" pitchFamily="34" charset="-122"/>
                <a:cs typeface="Calibri" pitchFamily="34" charset="-120"/>
              </a:rPr>
              <a:t>map_partitions construye la llave por partición; el grafo se materializa una sola vez con dask.compute.</a:t>
            </a:r>
            <a:endParaRPr lang="en-US" sz="1100" dirty="0"/>
          </a:p>
        </p:txBody>
      </p:sp>
      <p:sp>
        <p:nvSpPr>
          <p:cNvPr id="28" name="Text 26"/>
          <p:cNvSpPr/>
          <p:nvPr/>
        </p:nvSpPr>
        <p:spPr>
          <a:xfrm>
            <a:off x="548640" y="4846320"/>
            <a:ext cx="10698480" cy="41148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Blocksize declarado: 128 MiB · Una sola materialización analítica al final del grafo.</a:t>
            </a:r>
            <a:endParaRPr lang="en-US" sz="1200" dirty="0"/>
          </a:p>
        </p:txBody>
      </p:sp>
      <p:sp>
        <p:nvSpPr>
          <p:cNvPr id="29" name="Shape 27"/>
          <p:cNvSpPr/>
          <p:nvPr/>
        </p:nvSpPr>
        <p:spPr>
          <a:xfrm>
            <a:off x="548640" y="5897880"/>
            <a:ext cx="11091672" cy="502920"/>
          </a:xfrm>
          <a:prstGeom prst="roundRect">
            <a:avLst>
              <a:gd name="adj" fmla="val 14545"/>
            </a:avLst>
          </a:prstGeom>
          <a:solidFill>
            <a:srgbClr val="065A82"/>
          </a:solidFill>
          <a:ln/>
        </p:spPr>
      </p:sp>
      <p:sp>
        <p:nvSpPr>
          <p:cNvPr id="30" name="Text 28"/>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Con las dos versiones equivalentes, medimos cuánto tardó cada configuración.</a:t>
            </a:r>
            <a:endParaRPr lang="en-US" sz="1100" dirty="0"/>
          </a:p>
        </p:txBody>
      </p:sp>
      <p:sp>
        <p:nvSpPr>
          <p:cNvPr id="31" name="Text 29"/>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6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Tiempo de ejecución</a:t>
            </a:r>
            <a:endParaRPr lang="en-US" sz="3200" dirty="0"/>
          </a:p>
        </p:txBody>
      </p:sp>
      <p:graphicFrame>
        <p:nvGraphicFramePr>
          <p:cNvPr id="4" name="Chart 0"/>
          <p:cNvGraphicFramePr/>
          <p:nvPr/>
        </p:nvGraphicFramePr>
        <p:xfrm>
          <a:off x="548640" y="1691640"/>
          <a:ext cx="60350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828800"/>
            <a:ext cx="1828800" cy="18288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6" name="Text 3"/>
          <p:cNvSpPr/>
          <p:nvPr/>
        </p:nvSpPr>
        <p:spPr>
          <a:xfrm>
            <a:off x="7086600" y="2157984"/>
            <a:ext cx="1828800" cy="82296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0.979</a:t>
            </a:r>
            <a:endParaRPr lang="en-US" sz="2200" dirty="0"/>
          </a:p>
        </p:txBody>
      </p:sp>
      <p:sp>
        <p:nvSpPr>
          <p:cNvPr id="7" name="Text 4"/>
          <p:cNvSpPr/>
          <p:nvPr/>
        </p:nvSpPr>
        <p:spPr>
          <a:xfrm>
            <a:off x="7132320" y="2889504"/>
            <a:ext cx="1737360" cy="64008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speedup Dask</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vs Pandas</a:t>
            </a:r>
            <a:endParaRPr lang="en-US" sz="950" dirty="0"/>
          </a:p>
        </p:txBody>
      </p:sp>
      <p:sp>
        <p:nvSpPr>
          <p:cNvPr id="8" name="Text 5"/>
          <p:cNvSpPr/>
          <p:nvPr/>
        </p:nvSpPr>
        <p:spPr>
          <a:xfrm>
            <a:off x="9144000" y="1828800"/>
            <a:ext cx="2514600" cy="1920240"/>
          </a:xfrm>
          <a:prstGeom prst="rect">
            <a:avLst/>
          </a:prstGeom>
          <a:noFill/>
          <a:ln/>
        </p:spPr>
        <p:txBody>
          <a:bodyPr wrap="square" rtlCol="0" anchor="ctr"/>
          <a:lstStyle/>
          <a:p>
            <a:pPr marL="0" indent="0">
              <a:lnSpc>
                <a:spcPct val="120000"/>
              </a:lnSpc>
              <a:buNone/>
            </a:pPr>
            <a:r>
              <a:rPr lang="en-US" sz="1150" dirty="0">
                <a:solidFill>
                  <a:srgbClr val="21295C"/>
                </a:solidFill>
                <a:latin typeface="Calibri" pitchFamily="34" charset="0"/>
                <a:ea typeface="Calibri" pitchFamily="34" charset="-122"/>
                <a:cs typeface="Calibri" pitchFamily="34" charset="-120"/>
              </a:rPr>
              <a:t>Pandas terminó en 87.63 s. La mejor configuración Dask (2 workers) tomó 89.54 s: un speedup de 0.979. Dask no superó a Pandas en este entorno.</a:t>
            </a:r>
            <a:endParaRPr lang="en-US" sz="1150" dirty="0"/>
          </a:p>
        </p:txBody>
      </p:sp>
      <p:sp>
        <p:nvSpPr>
          <p:cNvPr id="9" name="Shape 6"/>
          <p:cNvSpPr/>
          <p:nvPr/>
        </p:nvSpPr>
        <p:spPr>
          <a:xfrm>
            <a:off x="7086600" y="3977640"/>
            <a:ext cx="4572000" cy="960120"/>
          </a:xfrm>
          <a:prstGeom prst="roundRect">
            <a:avLst>
              <a:gd name="adj" fmla="val 7619"/>
            </a:avLst>
          </a:prstGeom>
          <a:solidFill>
            <a:srgbClr val="FDEBE7"/>
          </a:solidFill>
          <a:ln/>
        </p:spPr>
      </p:sp>
      <p:sp>
        <p:nvSpPr>
          <p:cNvPr id="10" name="Text 7"/>
          <p:cNvSpPr/>
          <p:nvPr/>
        </p:nvSpPr>
        <p:spPr>
          <a:xfrm>
            <a:off x="7269480" y="4069080"/>
            <a:ext cx="4206240" cy="822960"/>
          </a:xfrm>
          <a:prstGeom prst="rect">
            <a:avLst/>
          </a:prstGeom>
          <a:noFill/>
          <a:ln/>
        </p:spPr>
        <p:txBody>
          <a:bodyPr wrap="square" rtlCol="0" anchor="t"/>
          <a:lstStyle/>
          <a:p>
            <a:pPr marL="0" indent="0">
              <a:buNone/>
            </a:pPr>
            <a:r>
              <a:rPr lang="en-US" sz="1000" b="1" dirty="0">
                <a:solidFill>
                  <a:srgbClr val="E8664B"/>
                </a:solidFill>
                <a:latin typeface="Calibri" pitchFamily="34" charset="0"/>
                <a:ea typeface="Calibri" pitchFamily="34" charset="-122"/>
                <a:cs typeface="Calibri" pitchFamily="34" charset="-120"/>
              </a:rPr>
              <a:t>Evitar decir:  </a:t>
            </a:r>
            <a:r>
              <a:rPr lang="en-US" sz="1000" dirty="0">
                <a:solidFill>
                  <a:srgbClr val="21295C"/>
                </a:solidFill>
                <a:latin typeface="Calibri" pitchFamily="34" charset="0"/>
                <a:ea typeface="Calibri" pitchFamily="34" charset="-122"/>
                <a:cs typeface="Calibri" pitchFamily="34" charset="-120"/>
              </a:rPr>
              <a:t>“Dask fue más rápido”. No lo fue: dos CPU lógicas limitan la ganancia y Dask agrega costos de coordinación.</a:t>
            </a:r>
            <a:endParaRPr lang="en-US" sz="1000" dirty="0"/>
          </a:p>
        </p:txBody>
      </p:sp>
      <p:sp>
        <p:nvSpPr>
          <p:cNvPr id="11" name="Shape 8"/>
          <p:cNvSpPr/>
          <p:nvPr/>
        </p:nvSpPr>
        <p:spPr>
          <a:xfrm>
            <a:off x="548640" y="5897880"/>
            <a:ext cx="11091672" cy="502920"/>
          </a:xfrm>
          <a:prstGeom prst="roundRect">
            <a:avLst>
              <a:gd name="adj" fmla="val 14545"/>
            </a:avLst>
          </a:prstGeom>
          <a:solidFill>
            <a:srgbClr val="065A82"/>
          </a:solidFill>
          <a:ln/>
        </p:spPr>
      </p:sp>
      <p:sp>
        <p:nvSpPr>
          <p:cNvPr id="12" name="Text 9"/>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El tiempo no es la única métrica. También medimos cómo se distribuyó el uso de memoria.</a:t>
            </a:r>
            <a:endParaRPr lang="en-US" sz="1100" dirty="0"/>
          </a:p>
        </p:txBody>
      </p:sp>
      <p:sp>
        <p:nvSpPr>
          <p:cNvPr id="13" name="Text 10"/>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7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Memoria pico y spill-to-disk</a:t>
            </a:r>
            <a:endParaRPr lang="en-US" sz="3200" dirty="0"/>
          </a:p>
        </p:txBody>
      </p:sp>
      <p:graphicFrame>
        <p:nvGraphicFramePr>
          <p:cNvPr id="4" name="Chart 0"/>
          <p:cNvGraphicFramePr/>
          <p:nvPr/>
        </p:nvGraphicFramePr>
        <p:xfrm>
          <a:off x="548640" y="1691640"/>
          <a:ext cx="64922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828800"/>
            <a:ext cx="1828800" cy="18288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6" name="Text 3"/>
          <p:cNvSpPr/>
          <p:nvPr/>
        </p:nvSpPr>
        <p:spPr>
          <a:xfrm>
            <a:off x="7589520" y="2157984"/>
            <a:ext cx="1828800" cy="82296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0.00 MB</a:t>
            </a:r>
            <a:endParaRPr lang="en-US" sz="2200" dirty="0"/>
          </a:p>
        </p:txBody>
      </p:sp>
      <p:sp>
        <p:nvSpPr>
          <p:cNvPr id="7" name="Text 4"/>
          <p:cNvSpPr/>
          <p:nvPr/>
        </p:nvSpPr>
        <p:spPr>
          <a:xfrm>
            <a:off x="7635240" y="2889504"/>
            <a:ext cx="1737360" cy="64008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spill-to-disk</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registrado</a:t>
            </a:r>
            <a:endParaRPr lang="en-US" sz="950" dirty="0"/>
          </a:p>
        </p:txBody>
      </p:sp>
      <p:sp>
        <p:nvSpPr>
          <p:cNvPr id="8" name="Text 5"/>
          <p:cNvSpPr/>
          <p:nvPr/>
        </p:nvSpPr>
        <p:spPr>
          <a:xfrm>
            <a:off x="9646920" y="1874520"/>
            <a:ext cx="2011680" cy="2194560"/>
          </a:xfrm>
          <a:prstGeom prst="rect">
            <a:avLst/>
          </a:prstGeom>
          <a:noFill/>
          <a:ln/>
        </p:spPr>
        <p:txBody>
          <a:bodyPr wrap="square" rtlCol="0" anchor="ctr"/>
          <a:lstStyle/>
          <a:p>
            <a:pPr marL="0" indent="0">
              <a:lnSpc>
                <a:spcPct val="120000"/>
              </a:lnSpc>
              <a:buNone/>
            </a:pPr>
            <a:r>
              <a:rPr lang="en-US" sz="1050" dirty="0">
                <a:solidFill>
                  <a:srgbClr val="21295C"/>
                </a:solidFill>
                <a:latin typeface="Calibri" pitchFamily="34" charset="0"/>
                <a:ea typeface="Calibri" pitchFamily="34" charset="-122"/>
                <a:cs typeface="Calibri" pitchFamily="34" charset="-120"/>
              </a:rPr>
              <a:t>El trabajo se dividió entre procesos, aunque la suma total incluye el costo de cada worker. No se necesitó trasladar datos desde RAM hacia disco.</a:t>
            </a:r>
            <a:endParaRPr lang="en-US" sz="1050" dirty="0"/>
          </a:p>
        </p:txBody>
      </p:sp>
      <p:sp>
        <p:nvSpPr>
          <p:cNvPr id="9" name="Shape 6"/>
          <p:cNvSpPr/>
          <p:nvPr/>
        </p:nvSpPr>
        <p:spPr>
          <a:xfrm>
            <a:off x="7589520" y="4069080"/>
            <a:ext cx="4069080" cy="914400"/>
          </a:xfrm>
          <a:prstGeom prst="roundRect">
            <a:avLst>
              <a:gd name="adj" fmla="val 8000"/>
            </a:avLst>
          </a:prstGeom>
          <a:solidFill>
            <a:srgbClr val="E7F5F1"/>
          </a:solidFill>
          <a:ln/>
        </p:spPr>
      </p:sp>
      <p:sp>
        <p:nvSpPr>
          <p:cNvPr id="10" name="Text 7"/>
          <p:cNvSpPr/>
          <p:nvPr/>
        </p:nvSpPr>
        <p:spPr>
          <a:xfrm>
            <a:off x="7772400" y="4160520"/>
            <a:ext cx="3703320" cy="731520"/>
          </a:xfrm>
          <a:prstGeom prst="rect">
            <a:avLst/>
          </a:prstGeom>
          <a:noFill/>
          <a:ln/>
        </p:spPr>
        <p:txBody>
          <a:bodyPr wrap="square" rtlCol="0" anchor="t"/>
          <a:lstStyle/>
          <a:p>
            <a:pPr marL="0" indent="0">
              <a:buNone/>
            </a:pPr>
            <a:r>
              <a:rPr lang="en-US" sz="1050" i="1" dirty="0">
                <a:solidFill>
                  <a:srgbClr val="21295C"/>
                </a:solidFill>
                <a:latin typeface="Calibri" pitchFamily="34" charset="0"/>
                <a:ea typeface="Calibri" pitchFamily="34" charset="-122"/>
                <a:cs typeface="Calibri" pitchFamily="34" charset="-120"/>
              </a:rPr>
              <a:t>Cero spill no es una falla: significa que la memoria disponible fue suficiente durante las pruebas.</a:t>
            </a:r>
            <a:endParaRPr lang="en-US" sz="1050" dirty="0"/>
          </a:p>
        </p:txBody>
      </p:sp>
      <p:sp>
        <p:nvSpPr>
          <p:cNvPr id="11" name="Shape 8"/>
          <p:cNvSpPr/>
          <p:nvPr/>
        </p:nvSpPr>
        <p:spPr>
          <a:xfrm>
            <a:off x="548640" y="5897880"/>
            <a:ext cx="11091672" cy="502920"/>
          </a:xfrm>
          <a:prstGeom prst="roundRect">
            <a:avLst>
              <a:gd name="adj" fmla="val 14545"/>
            </a:avLst>
          </a:prstGeom>
          <a:solidFill>
            <a:srgbClr val="065A82"/>
          </a:solidFill>
          <a:ln/>
        </p:spPr>
      </p:sp>
      <p:sp>
        <p:nvSpPr>
          <p:cNvPr id="12" name="Text 9"/>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A partir del tiempo medido calculamos el speedup y contrastamos el resultado con la Ley de Amdahl.</a:t>
            </a:r>
            <a:endParaRPr lang="en-US" sz="1100" dirty="0"/>
          </a:p>
        </p:txBody>
      </p:sp>
      <p:sp>
        <p:nvSpPr>
          <p:cNvPr id="13" name="Text 10"/>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8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Speedup y Ley de Amdahl</a:t>
            </a:r>
            <a:endParaRPr lang="en-US" sz="3200" dirty="0"/>
          </a:p>
        </p:txBody>
      </p:sp>
      <p:sp>
        <p:nvSpPr>
          <p:cNvPr id="4" name="Shape 2"/>
          <p:cNvSpPr/>
          <p:nvPr/>
        </p:nvSpPr>
        <p:spPr>
          <a:xfrm>
            <a:off x="548640" y="1783080"/>
            <a:ext cx="2011680" cy="201168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5" name="Text 3"/>
          <p:cNvSpPr/>
          <p:nvPr/>
        </p:nvSpPr>
        <p:spPr>
          <a:xfrm>
            <a:off x="548640" y="2145182"/>
            <a:ext cx="2011680" cy="905256"/>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0.979</a:t>
            </a:r>
            <a:endParaRPr lang="en-US" sz="2200" dirty="0"/>
          </a:p>
        </p:txBody>
      </p:sp>
      <p:sp>
        <p:nvSpPr>
          <p:cNvPr id="6" name="Text 4"/>
          <p:cNvSpPr/>
          <p:nvPr/>
        </p:nvSpPr>
        <p:spPr>
          <a:xfrm>
            <a:off x="594360" y="2949854"/>
            <a:ext cx="1920240" cy="704088"/>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speedup con</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2 workers</a:t>
            </a:r>
            <a:endParaRPr lang="en-US" sz="950" dirty="0"/>
          </a:p>
        </p:txBody>
      </p:sp>
      <p:sp>
        <p:nvSpPr>
          <p:cNvPr id="7" name="Text 5"/>
          <p:cNvSpPr/>
          <p:nvPr/>
        </p:nvSpPr>
        <p:spPr>
          <a:xfrm>
            <a:off x="2880360" y="1828800"/>
            <a:ext cx="4206240" cy="1920240"/>
          </a:xfrm>
          <a:prstGeom prst="rect">
            <a:avLst/>
          </a:prstGeom>
          <a:noFill/>
          <a:ln/>
        </p:spPr>
        <p:txBody>
          <a:bodyPr wrap="square" rtlCol="0" anchor="ctr"/>
          <a:lstStyle/>
          <a:p>
            <a:pPr marL="0" indent="0">
              <a:lnSpc>
                <a:spcPct val="125000"/>
              </a:lnSpc>
              <a:buNone/>
            </a:pPr>
            <a:r>
              <a:rPr lang="en-US" sz="1300" dirty="0">
                <a:solidFill>
                  <a:srgbClr val="21295C"/>
                </a:solidFill>
                <a:latin typeface="Calibri" pitchFamily="34" charset="0"/>
                <a:ea typeface="Calibri" pitchFamily="34" charset="-122"/>
                <a:cs typeface="Calibri" pitchFamily="34" charset="-120"/>
              </a:rPr>
              <a:t>El speedup se calcula dividiendo el tiempo de Pandas entre el tiempo de Dask. Como todos los speedups quedaron por debajo de uno, el ajuste clásico de Amdahl se saturó en una fracción secuencial igual a uno.</a:t>
            </a:r>
            <a:endParaRPr lang="en-US" sz="1300" dirty="0"/>
          </a:p>
        </p:txBody>
      </p:sp>
      <p:sp>
        <p:nvSpPr>
          <p:cNvPr id="8" name="Shape 6"/>
          <p:cNvSpPr/>
          <p:nvPr/>
        </p:nvSpPr>
        <p:spPr>
          <a:xfrm>
            <a:off x="7406640" y="1737360"/>
            <a:ext cx="4206240" cy="2103120"/>
          </a:xfrm>
          <a:prstGeom prst="roundRect">
            <a:avLst>
              <a:gd name="adj" fmla="val 4348"/>
            </a:avLst>
          </a:prstGeom>
          <a:solidFill>
            <a:srgbClr val="065A82"/>
          </a:solidFill>
          <a:ln/>
        </p:spPr>
      </p:sp>
      <p:sp>
        <p:nvSpPr>
          <p:cNvPr id="9" name="Text 7"/>
          <p:cNvSpPr/>
          <p:nvPr/>
        </p:nvSpPr>
        <p:spPr>
          <a:xfrm>
            <a:off x="7635240" y="1874520"/>
            <a:ext cx="374904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Esto no significa que el 100% del algoritmo sea literalmente secuencial.</a:t>
            </a:r>
            <a:endParaRPr lang="en-US" sz="1200" dirty="0"/>
          </a:p>
        </p:txBody>
      </p:sp>
      <p:sp>
        <p:nvSpPr>
          <p:cNvPr id="10" name="Text 8"/>
          <p:cNvSpPr/>
          <p:nvPr/>
        </p:nvSpPr>
        <p:spPr>
          <a:xfrm>
            <a:off x="7635240" y="2468880"/>
            <a:ext cx="3749040" cy="1188720"/>
          </a:xfrm>
          <a:prstGeom prst="rect">
            <a:avLst/>
          </a:prstGeom>
          <a:noFill/>
          <a:ln/>
        </p:spPr>
        <p:txBody>
          <a:bodyPr wrap="square"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El modelo clásico no representa el overhead creciente, y en este entorno ese costo dominó el trabajo útil.</a:t>
            </a:r>
            <a:endParaRPr lang="en-US" sz="1150" dirty="0"/>
          </a:p>
        </p:txBody>
      </p:sp>
      <p:sp>
        <p:nvSpPr>
          <p:cNvPr id="11" name="Shape 9"/>
          <p:cNvSpPr/>
          <p:nvPr/>
        </p:nvSpPr>
        <p:spPr>
          <a:xfrm>
            <a:off x="548640" y="4023360"/>
            <a:ext cx="10607040" cy="960120"/>
          </a:xfrm>
          <a:prstGeom prst="roundRect">
            <a:avLst>
              <a:gd name="adj" fmla="val 7619"/>
            </a:avLst>
          </a:prstGeom>
          <a:solidFill>
            <a:srgbClr val="E7F5F1"/>
          </a:solidFill>
          <a:ln/>
        </p:spPr>
      </p:sp>
      <p:sp>
        <p:nvSpPr>
          <p:cNvPr id="12" name="Text 10"/>
          <p:cNvSpPr/>
          <p:nvPr/>
        </p:nvSpPr>
        <p:spPr>
          <a:xfrm>
            <a:off x="777240" y="4114800"/>
            <a:ext cx="10149840" cy="777240"/>
          </a:xfrm>
          <a:prstGeom prst="rect">
            <a:avLst/>
          </a:prstGeom>
          <a:noFill/>
          <a:ln/>
        </p:spPr>
        <p:txBody>
          <a:bodyPr wrap="square"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Gustafson: </a:t>
            </a:r>
            <a:r>
              <a:rPr lang="en-US" sz="1250" dirty="0">
                <a:solidFill>
                  <a:srgbClr val="21295C"/>
                </a:solidFill>
                <a:latin typeface="Calibri" pitchFamily="34" charset="0"/>
                <a:ea typeface="Calibri" pitchFamily="34" charset="-122"/>
                <a:cs typeface="Calibri" pitchFamily="34" charset="-120"/>
              </a:rPr>
              <a:t>sirve como contraste para escenarios donde el volumen de datos aumenta junto con los recursos disponibles.</a:t>
            </a:r>
            <a:endParaRPr lang="en-US" sz="1250" dirty="0"/>
          </a:p>
        </p:txBody>
      </p:sp>
      <p:sp>
        <p:nvSpPr>
          <p:cNvPr id="13" name="Shape 11"/>
          <p:cNvSpPr/>
          <p:nvPr/>
        </p:nvSpPr>
        <p:spPr>
          <a:xfrm>
            <a:off x="548640" y="5897880"/>
            <a:ext cx="11091672" cy="502920"/>
          </a:xfrm>
          <a:prstGeom prst="roundRect">
            <a:avLst>
              <a:gd name="adj" fmla="val 14545"/>
            </a:avLst>
          </a:prstGeom>
          <a:solidFill>
            <a:srgbClr val="065A82"/>
          </a:solidFill>
          <a:ln/>
        </p:spPr>
      </p:sp>
      <p:sp>
        <p:nvSpPr>
          <p:cNvPr id="14" name="Text 12"/>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La eficiencia confirma que agregar workers no ayuda cuando la máquina no dispone de núcleos suficientes.</a:t>
            </a:r>
            <a:endParaRPr lang="en-US" sz="1100" dirty="0"/>
          </a:p>
        </p:txBody>
      </p:sp>
      <p:sp>
        <p:nvSpPr>
          <p:cNvPr id="15" name="Text 13"/>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9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Eficiencia paralela</a:t>
            </a:r>
            <a:endParaRPr lang="en-US" sz="3200" dirty="0"/>
          </a:p>
        </p:txBody>
      </p:sp>
      <p:graphicFrame>
        <p:nvGraphicFramePr>
          <p:cNvPr id="4" name="Chart 0"/>
          <p:cNvGraphicFramePr/>
          <p:nvPr/>
        </p:nvGraphicFramePr>
        <p:xfrm>
          <a:off x="548640" y="1691640"/>
          <a:ext cx="66751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498080" y="1874520"/>
            <a:ext cx="4114800" cy="777240"/>
          </a:xfrm>
          <a:prstGeom prst="rect">
            <a:avLst/>
          </a:prstGeom>
          <a:noFill/>
          <a:ln/>
        </p:spPr>
        <p:txBody>
          <a:bodyPr wrap="square" rtlCol="0" anchor="ctr"/>
          <a:lstStyle/>
          <a:p>
            <a:pPr marL="0" indent="0">
              <a:lnSpc>
                <a:spcPct val="120000"/>
              </a:lnSpc>
              <a:buNone/>
            </a:pPr>
            <a:r>
              <a:rPr lang="en-US" sz="1350" b="1" dirty="0">
                <a:solidFill>
                  <a:srgbClr val="21295C"/>
                </a:solidFill>
                <a:latin typeface="Calibri" pitchFamily="34" charset="0"/>
                <a:ea typeface="Calibri" pitchFamily="34" charset="-122"/>
                <a:cs typeface="Calibri" pitchFamily="34" charset="-120"/>
              </a:rPr>
              <a:t>La caída ocurre porque 4 y 8 workers compiten por solo dos CPU lógicas.</a:t>
            </a:r>
            <a:endParaRPr lang="en-US" sz="1350" dirty="0"/>
          </a:p>
        </p:txBody>
      </p:sp>
      <p:sp>
        <p:nvSpPr>
          <p:cNvPr id="6" name="Shape 3"/>
          <p:cNvSpPr/>
          <p:nvPr/>
        </p:nvSpPr>
        <p:spPr>
          <a:xfrm>
            <a:off x="7498080" y="2743200"/>
            <a:ext cx="4114800" cy="1828800"/>
          </a:xfrm>
          <a:prstGeom prst="roundRect">
            <a:avLst>
              <a:gd name="adj" fmla="val 5000"/>
            </a:avLst>
          </a:prstGeom>
          <a:solidFill>
            <a:srgbClr val="FDEBE7"/>
          </a:solidFill>
          <a:ln/>
        </p:spPr>
      </p:sp>
      <p:sp>
        <p:nvSpPr>
          <p:cNvPr id="7" name="Text 4"/>
          <p:cNvSpPr/>
          <p:nvPr/>
        </p:nvSpPr>
        <p:spPr>
          <a:xfrm>
            <a:off x="7726680" y="2880360"/>
            <a:ext cx="3657600" cy="1554480"/>
          </a:xfrm>
          <a:prstGeom prst="rect">
            <a:avLst/>
          </a:prstGeom>
          <a:noFill/>
          <a:ln/>
        </p:spPr>
        <p:txBody>
          <a:bodyPr wrap="square" rtlCol="0" anchor="t"/>
          <a:lstStyle/>
          <a:p>
            <a:pPr marL="0" indent="0">
              <a:lnSpc>
                <a:spcPct val="120000"/>
              </a:lnSpc>
              <a:buNone/>
            </a:pPr>
            <a:r>
              <a:rPr lang="en-US" sz="1150" b="1" dirty="0">
                <a:solidFill>
                  <a:srgbClr val="E8664B"/>
                </a:solidFill>
                <a:latin typeface="Calibri" pitchFamily="34" charset="0"/>
                <a:ea typeface="Calibri" pitchFamily="34" charset="-122"/>
                <a:cs typeface="Calibri" pitchFamily="34" charset="-120"/>
              </a:rPr>
              <a:t>Prueba de estrés, no recomendación
</a:t>
            </a:r>
            <a:endParaRPr lang="en-US" sz="1150" dirty="0"/>
          </a:p>
          <a:p>
            <a:pPr marL="0" indent="0">
              <a:lnSpc>
                <a:spcPct val="120000"/>
              </a:lnSpc>
              <a:buNone/>
            </a:pPr>
            <a:r>
              <a:rPr lang="en-US" sz="1150" dirty="0">
                <a:solidFill>
                  <a:srgbClr val="21295C"/>
                </a:solidFill>
                <a:latin typeface="Calibri" pitchFamily="34" charset="0"/>
                <a:ea typeface="Calibri" pitchFamily="34" charset="-122"/>
                <a:cs typeface="Calibri" pitchFamily="34" charset="-120"/>
              </a:rPr>
              <a:t>4 y 8 workers se interpretan como el peor caso demostrativo de sobresuscripción, no como configuraciones de operación.</a:t>
            </a:r>
            <a:endParaRPr lang="en-US" sz="1150" dirty="0"/>
          </a:p>
        </p:txBody>
      </p:sp>
      <p:sp>
        <p:nvSpPr>
          <p:cNvPr id="8" name="Shape 5"/>
          <p:cNvSpPr/>
          <p:nvPr/>
        </p:nvSpPr>
        <p:spPr>
          <a:xfrm>
            <a:off x="548640" y="5897880"/>
            <a:ext cx="11091672" cy="502920"/>
          </a:xfrm>
          <a:prstGeom prst="roundRect">
            <a:avLst>
              <a:gd name="adj" fmla="val 14545"/>
            </a:avLst>
          </a:prstGeom>
          <a:solidFill>
            <a:srgbClr val="065A82"/>
          </a:solidFill>
          <a:ln/>
        </p:spPr>
      </p:sp>
      <p:sp>
        <p:nvSpPr>
          <p:cNvPr id="9" name="Text 6"/>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Además del número de workers, estudiamos otro problema típico del procesamiento distribuido: el desequilibrio entre particiones.</a:t>
            </a:r>
            <a:endParaRPr lang="en-US" sz="1100" dirty="0"/>
          </a:p>
        </p:txBody>
      </p:sp>
      <p:sp>
        <p:nvSpPr>
          <p:cNvPr id="10" name="Text 7"/>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10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Mitigación de Data Skew</a:t>
            </a:r>
            <a:endParaRPr lang="en-US" sz="3200" dirty="0"/>
          </a:p>
        </p:txBody>
      </p:sp>
      <p:sp>
        <p:nvSpPr>
          <p:cNvPr id="4" name="Shape 2"/>
          <p:cNvSpPr/>
          <p:nvPr/>
        </p:nvSpPr>
        <p:spPr>
          <a:xfrm>
            <a:off x="548640" y="1737360"/>
            <a:ext cx="5074920" cy="3246120"/>
          </a:xfrm>
          <a:prstGeom prst="roundRect">
            <a:avLst>
              <a:gd name="adj" fmla="val 2817"/>
            </a:avLst>
          </a:prstGeom>
          <a:solidFill>
            <a:srgbClr val="FDEBE7"/>
          </a:solidFill>
          <a:ln/>
        </p:spPr>
      </p:sp>
      <p:sp>
        <p:nvSpPr>
          <p:cNvPr id="5" name="Text 3"/>
          <p:cNvSpPr/>
          <p:nvPr/>
        </p:nvSpPr>
        <p:spPr>
          <a:xfrm>
            <a:off x="822960" y="1874520"/>
            <a:ext cx="4572000" cy="365760"/>
          </a:xfrm>
          <a:prstGeom prst="rect">
            <a:avLst/>
          </a:prstGeom>
          <a:noFill/>
          <a:ln/>
        </p:spPr>
        <p:txBody>
          <a:bodyPr wrap="square" rtlCol="0" anchor="ctr"/>
          <a:lstStyle/>
          <a:p>
            <a:pPr marL="0" indent="0">
              <a:buNone/>
            </a:pPr>
            <a:r>
              <a:rPr lang="en-US" sz="1400" b="1" dirty="0">
                <a:solidFill>
                  <a:srgbClr val="E8664B"/>
                </a:solidFill>
                <a:latin typeface="Calibri" pitchFamily="34" charset="0"/>
                <a:ea typeface="Calibri" pitchFamily="34" charset="-122"/>
                <a:cs typeface="Calibri" pitchFamily="34" charset="-120"/>
              </a:rPr>
              <a:t>Distribución directa</a:t>
            </a:r>
            <a:endParaRPr lang="en-US" sz="1400" dirty="0"/>
          </a:p>
        </p:txBody>
      </p:sp>
      <p:sp>
        <p:nvSpPr>
          <p:cNvPr id="6" name="Text 4"/>
          <p:cNvSpPr/>
          <p:nvPr/>
        </p:nvSpPr>
        <p:spPr>
          <a:xfrm>
            <a:off x="822960" y="2286000"/>
            <a:ext cx="4572000" cy="685800"/>
          </a:xfrm>
          <a:prstGeom prst="rect">
            <a:avLst/>
          </a:prstGeom>
          <a:noFill/>
          <a:ln/>
        </p:spPr>
        <p:txBody>
          <a:bodyPr wrap="square" rtlCol="0" anchor="ctr"/>
          <a:lstStyle/>
          <a:p>
            <a:pPr marL="0" indent="0">
              <a:buNone/>
            </a:pPr>
            <a:r>
              <a:rPr lang="en-US" sz="3800" b="1" dirty="0">
                <a:solidFill>
                  <a:srgbClr val="21295C"/>
                </a:solidFill>
                <a:latin typeface="Cambria" pitchFamily="34" charset="0"/>
                <a:ea typeface="Cambria" pitchFamily="34" charset="-122"/>
                <a:cs typeface="Cambria" pitchFamily="34" charset="-120"/>
              </a:rPr>
              <a:t>2.9105</a:t>
            </a:r>
            <a:endParaRPr lang="en-US" sz="3800" dirty="0"/>
          </a:p>
        </p:txBody>
      </p:sp>
      <p:sp>
        <p:nvSpPr>
          <p:cNvPr id="7" name="Text 5"/>
          <p:cNvSpPr/>
          <p:nvPr/>
        </p:nvSpPr>
        <p:spPr>
          <a:xfrm>
            <a:off x="822960" y="2926080"/>
            <a:ext cx="4572000" cy="27432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razón de skew</a:t>
            </a:r>
            <a:endParaRPr lang="en-US" sz="1100" dirty="0"/>
          </a:p>
        </p:txBody>
      </p:sp>
      <p:sp>
        <p:nvSpPr>
          <p:cNvPr id="8" name="Text 6"/>
          <p:cNvSpPr/>
          <p:nvPr/>
        </p:nvSpPr>
        <p:spPr>
          <a:xfrm>
            <a:off x="822960" y="3383280"/>
            <a:ext cx="457200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1,957,280 filas en la partición más grande</a:t>
            </a:r>
            <a:endParaRPr lang="en-US" sz="1200" dirty="0"/>
          </a:p>
        </p:txBody>
      </p:sp>
      <p:sp>
        <p:nvSpPr>
          <p:cNvPr id="9" name="Text 7"/>
          <p:cNvSpPr/>
          <p:nvPr/>
        </p:nvSpPr>
        <p:spPr>
          <a:xfrm>
            <a:off x="822960" y="3794760"/>
            <a:ext cx="457200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95.39 s de tiempo total</a:t>
            </a:r>
            <a:endParaRPr lang="en-US" sz="1200" dirty="0"/>
          </a:p>
        </p:txBody>
      </p:sp>
      <p:sp>
        <p:nvSpPr>
          <p:cNvPr id="10" name="Shape 8"/>
          <p:cNvSpPr/>
          <p:nvPr/>
        </p:nvSpPr>
        <p:spPr>
          <a:xfrm>
            <a:off x="822960" y="4297680"/>
            <a:ext cx="4480560" cy="274320"/>
          </a:xfrm>
          <a:prstGeom prst="rect">
            <a:avLst/>
          </a:prstGeom>
          <a:solidFill>
            <a:srgbClr val="F3C7BB"/>
          </a:solidFill>
          <a:ln/>
        </p:spPr>
      </p:sp>
      <p:sp>
        <p:nvSpPr>
          <p:cNvPr id="11" name="Shape 9"/>
          <p:cNvSpPr/>
          <p:nvPr/>
        </p:nvSpPr>
        <p:spPr>
          <a:xfrm>
            <a:off x="822960" y="4297680"/>
            <a:ext cx="4480560" cy="274320"/>
          </a:xfrm>
          <a:prstGeom prst="rect">
            <a:avLst/>
          </a:prstGeom>
          <a:solidFill>
            <a:srgbClr val="E8664B"/>
          </a:solidFill>
          <a:ln/>
        </p:spPr>
      </p:sp>
      <p:sp>
        <p:nvSpPr>
          <p:cNvPr id="12" name="Shape 10"/>
          <p:cNvSpPr/>
          <p:nvPr/>
        </p:nvSpPr>
        <p:spPr>
          <a:xfrm>
            <a:off x="5852160" y="1737360"/>
            <a:ext cx="5760720" cy="3246120"/>
          </a:xfrm>
          <a:prstGeom prst="roundRect">
            <a:avLst>
              <a:gd name="adj" fmla="val 2817"/>
            </a:avLst>
          </a:prstGeom>
          <a:solidFill>
            <a:srgbClr val="E7F5F1"/>
          </a:solidFill>
          <a:ln/>
        </p:spPr>
      </p:sp>
      <p:sp>
        <p:nvSpPr>
          <p:cNvPr id="13" name="Text 11"/>
          <p:cNvSpPr/>
          <p:nvPr/>
        </p:nvSpPr>
        <p:spPr>
          <a:xfrm>
            <a:off x="6126480" y="1874520"/>
            <a:ext cx="5212080" cy="365760"/>
          </a:xfrm>
          <a:prstGeom prst="rect">
            <a:avLst/>
          </a:prstGeom>
          <a:noFill/>
          <a:ln/>
        </p:spPr>
        <p:txBody>
          <a:bodyPr wrap="square"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Con salting</a:t>
            </a:r>
            <a:endParaRPr lang="en-US" sz="1400" dirty="0"/>
          </a:p>
        </p:txBody>
      </p:sp>
      <p:sp>
        <p:nvSpPr>
          <p:cNvPr id="14" name="Text 12"/>
          <p:cNvSpPr/>
          <p:nvPr/>
        </p:nvSpPr>
        <p:spPr>
          <a:xfrm>
            <a:off x="6126480" y="2286000"/>
            <a:ext cx="5212080" cy="685800"/>
          </a:xfrm>
          <a:prstGeom prst="rect">
            <a:avLst/>
          </a:prstGeom>
          <a:noFill/>
          <a:ln/>
        </p:spPr>
        <p:txBody>
          <a:bodyPr wrap="square" rtlCol="0" anchor="ctr"/>
          <a:lstStyle/>
          <a:p>
            <a:pPr marL="0" indent="0">
              <a:buNone/>
            </a:pPr>
            <a:r>
              <a:rPr lang="en-US" sz="3800" b="1" dirty="0">
                <a:solidFill>
                  <a:srgbClr val="21295C"/>
                </a:solidFill>
                <a:latin typeface="Cambria" pitchFamily="34" charset="0"/>
                <a:ea typeface="Cambria" pitchFamily="34" charset="-122"/>
                <a:cs typeface="Cambria" pitchFamily="34" charset="-120"/>
              </a:rPr>
              <a:t>1.2735</a:t>
            </a:r>
            <a:endParaRPr lang="en-US" sz="3800" dirty="0"/>
          </a:p>
        </p:txBody>
      </p:sp>
      <p:sp>
        <p:nvSpPr>
          <p:cNvPr id="15" name="Text 13"/>
          <p:cNvSpPr/>
          <p:nvPr/>
        </p:nvSpPr>
        <p:spPr>
          <a:xfrm>
            <a:off x="6126480" y="2926080"/>
            <a:ext cx="5212080" cy="27432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razón de skew</a:t>
            </a:r>
            <a:endParaRPr lang="en-US" sz="1100" dirty="0"/>
          </a:p>
        </p:txBody>
      </p:sp>
      <p:sp>
        <p:nvSpPr>
          <p:cNvPr id="16" name="Text 14"/>
          <p:cNvSpPr/>
          <p:nvPr/>
        </p:nvSpPr>
        <p:spPr>
          <a:xfrm>
            <a:off x="6126480" y="3383280"/>
            <a:ext cx="521208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856,399 filas en la partición más grande</a:t>
            </a:r>
            <a:endParaRPr lang="en-US" sz="1200" dirty="0"/>
          </a:p>
        </p:txBody>
      </p:sp>
      <p:sp>
        <p:nvSpPr>
          <p:cNvPr id="17" name="Text 15"/>
          <p:cNvSpPr/>
          <p:nvPr/>
        </p:nvSpPr>
        <p:spPr>
          <a:xfrm>
            <a:off x="6126480" y="3794760"/>
            <a:ext cx="521208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89.54 s de tiempo total</a:t>
            </a:r>
            <a:endParaRPr lang="en-US" sz="1200" dirty="0"/>
          </a:p>
        </p:txBody>
      </p:sp>
      <p:sp>
        <p:nvSpPr>
          <p:cNvPr id="18" name="Shape 16"/>
          <p:cNvSpPr/>
          <p:nvPr/>
        </p:nvSpPr>
        <p:spPr>
          <a:xfrm>
            <a:off x="6126480" y="4297680"/>
            <a:ext cx="1956816" cy="274320"/>
          </a:xfrm>
          <a:prstGeom prst="rect">
            <a:avLst/>
          </a:prstGeom>
          <a:solidFill>
            <a:srgbClr val="5FB3A3"/>
          </a:solidFill>
          <a:ln/>
        </p:spPr>
      </p:sp>
      <p:sp>
        <p:nvSpPr>
          <p:cNvPr id="19" name="Text 17"/>
          <p:cNvSpPr/>
          <p:nvPr/>
        </p:nvSpPr>
        <p:spPr>
          <a:xfrm>
            <a:off x="548640" y="5166360"/>
            <a:ext cx="11064240" cy="411480"/>
          </a:xfrm>
          <a:prstGeom prst="rect">
            <a:avLst/>
          </a:prstGeom>
          <a:noFill/>
          <a:ln/>
        </p:spPr>
        <p:txBody>
          <a:bodyPr wrap="square" rtlCol="0" anchor="ctr"/>
          <a:lstStyle/>
          <a:p>
            <a:pPr marL="0" indent="0">
              <a:buNone/>
            </a:pPr>
            <a:r>
              <a:rPr lang="en-US" sz="1200" i="1" dirty="0">
                <a:solidFill>
                  <a:srgbClr val="1C7293"/>
                </a:solidFill>
                <a:latin typeface="Calibri" pitchFamily="34" charset="0"/>
                <a:ea typeface="Calibri" pitchFamily="34" charset="-122"/>
                <a:cs typeface="Calibri" pitchFamily="34" charset="-120"/>
              </a:rPr>
              <a:t>La estrategia distribuye las provincias densas sin separar los eventos que pertenecen a la misma llave sintética: el resultado final permanece idéntico.</a:t>
            </a:r>
            <a:endParaRPr lang="en-US" sz="1200" dirty="0"/>
          </a:p>
        </p:txBody>
      </p:sp>
      <p:sp>
        <p:nvSpPr>
          <p:cNvPr id="20" name="Shape 18"/>
          <p:cNvSpPr/>
          <p:nvPr/>
        </p:nvSpPr>
        <p:spPr>
          <a:xfrm>
            <a:off x="548640" y="5897880"/>
            <a:ext cx="11091672" cy="502920"/>
          </a:xfrm>
          <a:prstGeom prst="roundRect">
            <a:avLst>
              <a:gd name="adj" fmla="val 14545"/>
            </a:avLst>
          </a:prstGeom>
          <a:solidFill>
            <a:srgbClr val="065A82"/>
          </a:solidFill>
          <a:ln/>
        </p:spPr>
      </p:sp>
      <p:sp>
        <p:nvSpPr>
          <p:cNvPr id="21" name="Text 19"/>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Marcos explicará ahora cómo se protegió la privacidad, cómo se validaron los resultados y cuáles son las conclusiones del proyecto.</a:t>
            </a:r>
            <a:endParaRPr lang="en-US" sz="1100" dirty="0"/>
          </a:p>
        </p:txBody>
      </p:sp>
      <p:sp>
        <p:nvSpPr>
          <p:cNvPr id="22" name="Text 20"/>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E3B23C"/>
                </a:solidFill>
                <a:latin typeface="Calibri" pitchFamily="34" charset="0"/>
                <a:ea typeface="Calibri" pitchFamily="34" charset="-122"/>
                <a:cs typeface="Calibri" pitchFamily="34" charset="-120"/>
              </a:rPr>
              <a:t>DIAPOSITIVA 11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K-anonimato</a:t>
            </a:r>
            <a:endParaRPr lang="en-US" sz="3200" dirty="0"/>
          </a:p>
        </p:txBody>
      </p:sp>
      <p:sp>
        <p:nvSpPr>
          <p:cNvPr id="4" name="Text 2"/>
          <p:cNvSpPr/>
          <p:nvPr/>
        </p:nvSpPr>
        <p:spPr>
          <a:xfrm>
            <a:off x="548640" y="1691640"/>
            <a:ext cx="10698480" cy="594360"/>
          </a:xfrm>
          <a:prstGeom prst="rect">
            <a:avLst/>
          </a:prstGeom>
          <a:noFill/>
          <a:ln/>
        </p:spPr>
        <p:txBody>
          <a:bodyPr wrap="square" rtlCol="0" anchor="ctr"/>
          <a:lstStyle/>
          <a:p>
            <a:pPr marL="0" indent="0">
              <a:buNone/>
            </a:pPr>
            <a:r>
              <a:rPr lang="en-US" sz="1350" dirty="0">
                <a:solidFill>
                  <a:srgbClr val="21295C"/>
                </a:solidFill>
                <a:latin typeface="Calibri" pitchFamily="34" charset="0"/>
                <a:ea typeface="Calibri" pitchFamily="34" charset="-122"/>
                <a:cs typeface="Calibri" pitchFamily="34" charset="-120"/>
              </a:rPr>
              <a:t>La granularidad inicial no garantizaba K ≥ 50. Para la salida publicable se aplicó una regla de supresión: excluir los grupos con K menor que 50.</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6675120" cy="2377440"/>
        </p:xfrm>
        <a:graphic>
          <a:graphicData uri="http://schemas.openxmlformats.org/drawingml/2006/table">
            <a:tbl>
              <a:tblPr/>
              <a:tblGrid>
                <a:gridCol w="23774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475488">
                <a:tc>
                  <a:txBody>
                    <a:bodyPr/>
                    <a:lstStyle/>
                    <a:p>
                      <a:pPr marL="0" indent="0">
                        <a:buNone/>
                      </a:pP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Antes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solidFill>
                      <a:srgbClr val="E8664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Después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K mínimo</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b="1" dirty="0">
                          <a:solidFill>
                            <a:srgbClr val="1C7293"/>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Grupos con K &lt; 50</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8,997</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b="1" dirty="0">
                          <a:solidFill>
                            <a:srgbClr val="1C729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Registros suprimidos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170,246</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Registros conservados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5,379,828</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b="1" dirty="0">
                          <a:solidFill>
                            <a:srgbClr val="1C7293"/>
                          </a:solidFill>
                          <a:latin typeface="Calibri" pitchFamily="34" charset="0"/>
                          <a:ea typeface="Calibri" pitchFamily="34" charset="-122"/>
                          <a:cs typeface="Calibri" pitchFamily="34" charset="-120"/>
                        </a:rPr>
                        <a:t>5,209,582 (96.8355%)</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7680960" y="2423160"/>
            <a:ext cx="1920240" cy="1920240"/>
          </a:xfrm>
          <a:prstGeom prst="ellipse">
            <a:avLst/>
          </a:prstGeom>
          <a:solidFill>
            <a:srgbClr val="FFFFFF"/>
          </a:solidFill>
          <a:ln w="25400">
            <a:solidFill>
              <a:srgbClr val="1C7293"/>
            </a:solidFill>
            <a:prstDash val="solid"/>
          </a:ln>
          <a:effectLst>
            <a:outerShdw blurRad="76200" dist="25400" dir="5400000" algn="bl" rotWithShape="0">
              <a:srgbClr val="1F2937">
                <a:alpha val="15000"/>
              </a:srgbClr>
            </a:outerShdw>
          </a:effectLst>
        </p:spPr>
      </p:sp>
      <p:sp>
        <p:nvSpPr>
          <p:cNvPr id="7" name="Text 4"/>
          <p:cNvSpPr/>
          <p:nvPr/>
        </p:nvSpPr>
        <p:spPr>
          <a:xfrm>
            <a:off x="7680960" y="2768803"/>
            <a:ext cx="1920240" cy="864108"/>
          </a:xfrm>
          <a:prstGeom prst="rect">
            <a:avLst/>
          </a:prstGeom>
          <a:noFill/>
          <a:ln/>
        </p:spPr>
        <p:txBody>
          <a:bodyPr wrap="square"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K ≥ 50</a:t>
            </a:r>
            <a:endParaRPr lang="en-US" sz="2200" dirty="0"/>
          </a:p>
        </p:txBody>
      </p:sp>
      <p:sp>
        <p:nvSpPr>
          <p:cNvPr id="8" name="Text 5"/>
          <p:cNvSpPr/>
          <p:nvPr/>
        </p:nvSpPr>
        <p:spPr>
          <a:xfrm>
            <a:off x="7726680" y="3536899"/>
            <a:ext cx="1828800" cy="672084"/>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en la salida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publicable</a:t>
            </a:r>
            <a:endParaRPr lang="en-US" sz="950" dirty="0"/>
          </a:p>
        </p:txBody>
      </p:sp>
      <p:sp>
        <p:nvSpPr>
          <p:cNvPr id="9" name="Text 6"/>
          <p:cNvSpPr/>
          <p:nvPr/>
        </p:nvSpPr>
        <p:spPr>
          <a:xfrm>
            <a:off x="9692640" y="2651760"/>
            <a:ext cx="2011680" cy="640080"/>
          </a:xfrm>
          <a:prstGeom prst="rect">
            <a:avLst/>
          </a:prstGeom>
          <a:noFill/>
          <a:ln/>
        </p:spPr>
        <p:txBody>
          <a:bodyPr wrap="square" rtlCol="0" anchor="ctr"/>
          <a:lstStyle/>
          <a:p>
            <a:pPr marL="0" indent="0" algn="ctr">
              <a:buNone/>
            </a:pPr>
            <a:r>
              <a:rPr lang="en-US" sz="2600" b="1" dirty="0">
                <a:solidFill>
                  <a:srgbClr val="E3B23C"/>
                </a:solidFill>
                <a:latin typeface="Cambria" pitchFamily="34" charset="0"/>
                <a:ea typeface="Cambria" pitchFamily="34" charset="-122"/>
                <a:cs typeface="Cambria" pitchFamily="34" charset="-120"/>
              </a:rPr>
              <a:t>96.8355%</a:t>
            </a:r>
            <a:endParaRPr lang="en-US" sz="2600" dirty="0"/>
          </a:p>
        </p:txBody>
      </p:sp>
      <p:sp>
        <p:nvSpPr>
          <p:cNvPr id="10" name="Text 7"/>
          <p:cNvSpPr/>
          <p:nvPr/>
        </p:nvSpPr>
        <p:spPr>
          <a:xfrm>
            <a:off x="9692640" y="3246120"/>
            <a:ext cx="2011680" cy="548640"/>
          </a:xfrm>
          <a:prstGeom prst="rect">
            <a:avLst/>
          </a:prstGeom>
          <a:noFill/>
          <a:ln/>
        </p:spPr>
        <p:txBody>
          <a:bodyPr wrap="square" rtlCol="0" anchor="ctr"/>
          <a:lstStyle/>
          <a:p>
            <a:pPr marL="0" indent="0" algn="ctr">
              <a:buNone/>
            </a:pPr>
            <a:r>
              <a:rPr lang="en-US" sz="1050" dirty="0">
                <a:solidFill>
                  <a:srgbClr val="5A6B75"/>
                </a:solidFill>
                <a:latin typeface="Calibri" pitchFamily="34" charset="0"/>
                <a:ea typeface="Calibri" pitchFamily="34" charset="-122"/>
                <a:cs typeface="Calibri" pitchFamily="34" charset="-120"/>
              </a:rPr>
              <a:t>de los datos</a:t>
            </a:r>
            <a:endParaRPr lang="en-US" sz="1050" dirty="0"/>
          </a:p>
          <a:p>
            <a:pPr marL="0" indent="0" algn="ctr">
              <a:buNone/>
            </a:pPr>
            <a:r>
              <a:rPr lang="en-US" sz="1050" dirty="0">
                <a:solidFill>
                  <a:srgbClr val="5A6B75"/>
                </a:solidFill>
                <a:latin typeface="Calibri" pitchFamily="34" charset="0"/>
                <a:ea typeface="Calibri" pitchFamily="34" charset="-122"/>
                <a:cs typeface="Calibri" pitchFamily="34" charset="-120"/>
              </a:rPr>
              <a:t>conservados</a:t>
            </a:r>
            <a:endParaRPr lang="en-US" sz="1050" dirty="0"/>
          </a:p>
        </p:txBody>
      </p:sp>
      <p:sp>
        <p:nvSpPr>
          <p:cNvPr id="11" name="Shape 8"/>
          <p:cNvSpPr/>
          <p:nvPr/>
        </p:nvSpPr>
        <p:spPr>
          <a:xfrm>
            <a:off x="7680960" y="4069080"/>
            <a:ext cx="4023360" cy="914400"/>
          </a:xfrm>
          <a:prstGeom prst="roundRect">
            <a:avLst>
              <a:gd name="adj" fmla="val 8000"/>
            </a:avLst>
          </a:prstGeom>
          <a:solidFill>
            <a:srgbClr val="FDEBE7"/>
          </a:solidFill>
          <a:ln/>
        </p:spPr>
      </p:sp>
      <p:sp>
        <p:nvSpPr>
          <p:cNvPr id="5" name="Text 9"/>
          <p:cNvSpPr/>
          <p:nvPr/>
        </p:nvSpPr>
        <p:spPr>
          <a:xfrm>
            <a:off x="7863840" y="4160520"/>
            <a:ext cx="3657600" cy="731520"/>
          </a:xfrm>
          <a:prstGeom prst="rect">
            <a:avLst/>
          </a:prstGeom>
          <a:noFill/>
          <a:ln/>
        </p:spPr>
        <p:txBody>
          <a:bodyPr wrap="square" rtlCol="0" anchor="t"/>
          <a:lstStyle/>
          <a:p>
            <a:pPr marL="0" indent="0">
              <a:buNone/>
            </a:pPr>
            <a:r>
              <a:rPr lang="en-US" sz="1000" b="1" dirty="0">
                <a:solidFill>
                  <a:srgbClr val="E8664B"/>
                </a:solidFill>
                <a:latin typeface="Calibri" pitchFamily="34" charset="0"/>
                <a:ea typeface="Calibri" pitchFamily="34" charset="-122"/>
                <a:cs typeface="Calibri" pitchFamily="34" charset="-120"/>
              </a:rPr>
              <a:t>Evitar decir:  </a:t>
            </a:r>
            <a:r>
              <a:rPr lang="en-US" sz="1000" dirty="0">
                <a:solidFill>
                  <a:srgbClr val="21295C"/>
                </a:solidFill>
                <a:latin typeface="Calibri" pitchFamily="34" charset="0"/>
                <a:ea typeface="Calibri" pitchFamily="34" charset="-122"/>
                <a:cs typeface="Calibri" pitchFamily="34" charset="-120"/>
              </a:rPr>
              <a:t>“La base original cumple K ≥ 50” — cumple después de suprimir grupos pequeños.</a:t>
            </a:r>
            <a:endParaRPr lang="en-US" sz="1000" dirty="0"/>
          </a:p>
        </p:txBody>
      </p:sp>
      <p:sp>
        <p:nvSpPr>
          <p:cNvPr id="13" name="Shape 10"/>
          <p:cNvSpPr/>
          <p:nvPr/>
        </p:nvSpPr>
        <p:spPr>
          <a:xfrm>
            <a:off x="548640" y="5897880"/>
            <a:ext cx="11091672" cy="502920"/>
          </a:xfrm>
          <a:prstGeom prst="roundRect">
            <a:avLst>
              <a:gd name="adj" fmla="val 14545"/>
            </a:avLst>
          </a:prstGeom>
          <a:solidFill>
            <a:srgbClr val="065A82"/>
          </a:solidFill>
          <a:ln/>
        </p:spPr>
      </p:sp>
      <p:sp>
        <p:nvSpPr>
          <p:cNvPr id="14" name="Text 11"/>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Además de proteger la publicación, verificamos que la versión distribuida reprodujera exactamente los resultados de la línea base.</a:t>
            </a:r>
            <a:endParaRPr lang="en-US" sz="1100" dirty="0"/>
          </a:p>
        </p:txBody>
      </p:sp>
      <p:sp>
        <p:nvSpPr>
          <p:cNvPr id="15" name="Text 12"/>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E3B23C"/>
                </a:solidFill>
                <a:latin typeface="Calibri" pitchFamily="34" charset="0"/>
                <a:ea typeface="Calibri" pitchFamily="34" charset="-122"/>
                <a:cs typeface="Calibri" pitchFamily="34" charset="-120"/>
              </a:rPr>
              <a:t>DIAPOSITIVA 12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Validación, conclusiones y recomendaciones</a:t>
            </a:r>
            <a:endParaRPr lang="en-US" sz="3200" dirty="0"/>
          </a:p>
        </p:txBody>
      </p:sp>
      <p:sp>
        <p:nvSpPr>
          <p:cNvPr id="4" name="Shape 2"/>
          <p:cNvSpPr/>
          <p:nvPr/>
        </p:nvSpPr>
        <p:spPr>
          <a:xfrm>
            <a:off x="548640" y="1737360"/>
            <a:ext cx="1737360" cy="173736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5" name="Text 3"/>
          <p:cNvSpPr/>
          <p:nvPr/>
        </p:nvSpPr>
        <p:spPr>
          <a:xfrm>
            <a:off x="548640" y="2050085"/>
            <a:ext cx="1737360" cy="781812"/>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125</a:t>
            </a:r>
            <a:endParaRPr lang="en-US" sz="2200" dirty="0"/>
          </a:p>
        </p:txBody>
      </p:sp>
      <p:sp>
        <p:nvSpPr>
          <p:cNvPr id="6" name="Text 4"/>
          <p:cNvSpPr/>
          <p:nvPr/>
        </p:nvSpPr>
        <p:spPr>
          <a:xfrm>
            <a:off x="594360" y="274502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filas agregadas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comparadas</a:t>
            </a:r>
            <a:endParaRPr lang="en-US" sz="950" dirty="0"/>
          </a:p>
        </p:txBody>
      </p:sp>
      <p:sp>
        <p:nvSpPr>
          <p:cNvPr id="7" name="Shape 5"/>
          <p:cNvSpPr/>
          <p:nvPr/>
        </p:nvSpPr>
        <p:spPr>
          <a:xfrm>
            <a:off x="2514600" y="1737360"/>
            <a:ext cx="1737360" cy="1737360"/>
          </a:xfrm>
          <a:prstGeom prst="ellipse">
            <a:avLst/>
          </a:prstGeom>
          <a:solidFill>
            <a:srgbClr val="FFFFFF"/>
          </a:solidFill>
          <a:ln w="25400">
            <a:solidFill>
              <a:srgbClr val="1C7293"/>
            </a:solidFill>
            <a:prstDash val="solid"/>
          </a:ln>
          <a:effectLst>
            <a:outerShdw blurRad="76200" dist="25400" dir="5400000" algn="bl" rotWithShape="0">
              <a:srgbClr val="1F2937">
                <a:alpha val="15000"/>
              </a:srgbClr>
            </a:outerShdw>
          </a:effectLst>
        </p:spPr>
      </p:sp>
      <p:sp>
        <p:nvSpPr>
          <p:cNvPr id="8" name="Text 6"/>
          <p:cNvSpPr/>
          <p:nvPr/>
        </p:nvSpPr>
        <p:spPr>
          <a:xfrm>
            <a:off x="2514600" y="2050085"/>
            <a:ext cx="1737360" cy="781812"/>
          </a:xfrm>
          <a:prstGeom prst="rect">
            <a:avLst/>
          </a:prstGeom>
          <a:noFill/>
          <a:ln/>
        </p:spPr>
        <p:txBody>
          <a:bodyPr wrap="square"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2560320" y="274502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diferencias en</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todas las métricas</a:t>
            </a:r>
            <a:endParaRPr lang="en-US" sz="950" dirty="0"/>
          </a:p>
        </p:txBody>
      </p:sp>
      <p:sp>
        <p:nvSpPr>
          <p:cNvPr id="10" name="Shape 8"/>
          <p:cNvSpPr/>
          <p:nvPr/>
        </p:nvSpPr>
        <p:spPr>
          <a:xfrm>
            <a:off x="4480560" y="1737360"/>
            <a:ext cx="1737360" cy="173736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1" name="Text 9"/>
          <p:cNvSpPr/>
          <p:nvPr/>
        </p:nvSpPr>
        <p:spPr>
          <a:xfrm>
            <a:off x="4480560" y="2050085"/>
            <a:ext cx="1737360" cy="781812"/>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100%</a:t>
            </a:r>
            <a:endParaRPr lang="en-US" sz="2200" dirty="0"/>
          </a:p>
        </p:txBody>
      </p:sp>
      <p:sp>
        <p:nvSpPr>
          <p:cNvPr id="12" name="Text 10"/>
          <p:cNvSpPr/>
          <p:nvPr/>
        </p:nvSpPr>
        <p:spPr>
          <a:xfrm>
            <a:off x="4526280" y="274502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coincidencia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Pandas–Dask</a:t>
            </a:r>
            <a:endParaRPr lang="en-US" sz="950" dirty="0"/>
          </a:p>
        </p:txBody>
      </p:sp>
      <p:sp>
        <p:nvSpPr>
          <p:cNvPr id="13" name="Text 11"/>
          <p:cNvSpPr/>
          <p:nvPr/>
        </p:nvSpPr>
        <p:spPr>
          <a:xfrm>
            <a:off x="6583680" y="1737360"/>
            <a:ext cx="502920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Conclusiones</a:t>
            </a:r>
            <a:endParaRPr lang="en-US" sz="1300" dirty="0"/>
          </a:p>
        </p:txBody>
      </p:sp>
      <p:sp>
        <p:nvSpPr>
          <p:cNvPr id="14" name="Shape 12"/>
          <p:cNvSpPr/>
          <p:nvPr/>
        </p:nvSpPr>
        <p:spPr>
          <a:xfrm>
            <a:off x="6583680" y="2148840"/>
            <a:ext cx="109728" cy="109728"/>
          </a:xfrm>
          <a:prstGeom prst="ellipse">
            <a:avLst/>
          </a:prstGeom>
          <a:solidFill>
            <a:srgbClr val="1C7293"/>
          </a:solidFill>
          <a:ln/>
        </p:spPr>
      </p:sp>
      <p:sp>
        <p:nvSpPr>
          <p:cNvPr id="15" name="Text 13"/>
          <p:cNvSpPr/>
          <p:nvPr/>
        </p:nvSpPr>
        <p:spPr>
          <a:xfrm>
            <a:off x="6812280" y="1993392"/>
            <a:ext cx="4846320" cy="4572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Pandas fue ligeramente más rápido en el equipo de prueba</a:t>
            </a:r>
            <a:endParaRPr lang="en-US" sz="1150" dirty="0"/>
          </a:p>
        </p:txBody>
      </p:sp>
      <p:sp>
        <p:nvSpPr>
          <p:cNvPr id="16" name="Shape 14"/>
          <p:cNvSpPr/>
          <p:nvPr/>
        </p:nvSpPr>
        <p:spPr>
          <a:xfrm>
            <a:off x="6583680" y="2606040"/>
            <a:ext cx="109728" cy="109728"/>
          </a:xfrm>
          <a:prstGeom prst="ellipse">
            <a:avLst/>
          </a:prstGeom>
          <a:solidFill>
            <a:srgbClr val="1C7293"/>
          </a:solidFill>
          <a:ln/>
        </p:spPr>
      </p:sp>
      <p:sp>
        <p:nvSpPr>
          <p:cNvPr id="17" name="Text 15"/>
          <p:cNvSpPr/>
          <p:nvPr/>
        </p:nvSpPr>
        <p:spPr>
          <a:xfrm>
            <a:off x="6812280" y="2450592"/>
            <a:ext cx="4846320" cy="4572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Dask demostró valor para particionar, controlar memoria y escalar</a:t>
            </a:r>
            <a:endParaRPr lang="en-US" sz="1150" dirty="0"/>
          </a:p>
        </p:txBody>
      </p:sp>
      <p:sp>
        <p:nvSpPr>
          <p:cNvPr id="18" name="Shape 16"/>
          <p:cNvSpPr/>
          <p:nvPr/>
        </p:nvSpPr>
        <p:spPr>
          <a:xfrm>
            <a:off x="6583680" y="3063240"/>
            <a:ext cx="109728" cy="109728"/>
          </a:xfrm>
          <a:prstGeom prst="ellipse">
            <a:avLst/>
          </a:prstGeom>
          <a:solidFill>
            <a:srgbClr val="1C7293"/>
          </a:solidFill>
          <a:ln/>
        </p:spPr>
      </p:sp>
      <p:sp>
        <p:nvSpPr>
          <p:cNvPr id="19" name="Text 17"/>
          <p:cNvSpPr/>
          <p:nvPr/>
        </p:nvSpPr>
        <p:spPr>
          <a:xfrm>
            <a:off x="6812280" y="2907792"/>
            <a:ext cx="4846320" cy="4572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4 y 8 workers evidenciaron el costo de la sobresuscripción</a:t>
            </a:r>
            <a:endParaRPr lang="en-US" sz="1150" dirty="0"/>
          </a:p>
        </p:txBody>
      </p:sp>
      <p:sp>
        <p:nvSpPr>
          <p:cNvPr id="20" name="Shape 18"/>
          <p:cNvSpPr/>
          <p:nvPr/>
        </p:nvSpPr>
        <p:spPr>
          <a:xfrm>
            <a:off x="548640" y="3794760"/>
            <a:ext cx="5486400" cy="1783080"/>
          </a:xfrm>
          <a:prstGeom prst="roundRect">
            <a:avLst>
              <a:gd name="adj" fmla="val 5128"/>
            </a:avLst>
          </a:prstGeom>
          <a:solidFill>
            <a:srgbClr val="065A82"/>
          </a:solidFill>
          <a:ln/>
        </p:spPr>
      </p:sp>
      <p:sp>
        <p:nvSpPr>
          <p:cNvPr id="21" name="Text 19"/>
          <p:cNvSpPr/>
          <p:nvPr/>
        </p:nvSpPr>
        <p:spPr>
          <a:xfrm>
            <a:off x="777240" y="3931920"/>
            <a:ext cx="502920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Recomendaciones para el INEC</a:t>
            </a:r>
            <a:endParaRPr lang="en-US" sz="1250" dirty="0"/>
          </a:p>
        </p:txBody>
      </p:sp>
      <p:sp>
        <p:nvSpPr>
          <p:cNvPr id="22" name="Text 20"/>
          <p:cNvSpPr/>
          <p:nvPr/>
        </p:nvSpPr>
        <p:spPr>
          <a:xfrm>
            <a:off x="777240" y="4297680"/>
            <a:ext cx="50292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 Mantener enlaces estables</a:t>
            </a:r>
            <a:endParaRPr lang="en-US" sz="1150" dirty="0"/>
          </a:p>
        </p:txBody>
      </p:sp>
      <p:sp>
        <p:nvSpPr>
          <p:cNvPr id="23" name="Text 21"/>
          <p:cNvSpPr/>
          <p:nvPr/>
        </p:nvSpPr>
        <p:spPr>
          <a:xfrm>
            <a:off x="777240" y="4681728"/>
            <a:ext cx="50292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 Diccionarios abiertos</a:t>
            </a:r>
            <a:endParaRPr lang="en-US" sz="1150" dirty="0"/>
          </a:p>
        </p:txBody>
      </p:sp>
      <p:sp>
        <p:nvSpPr>
          <p:cNvPr id="24" name="Text 22"/>
          <p:cNvSpPr/>
          <p:nvPr/>
        </p:nvSpPr>
        <p:spPr>
          <a:xfrm>
            <a:off x="777240" y="5065776"/>
            <a:ext cx="50292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 Registro de cambios entre publicaciones</a:t>
            </a:r>
            <a:endParaRPr lang="en-US" sz="1150" dirty="0"/>
          </a:p>
        </p:txBody>
      </p:sp>
      <p:sp>
        <p:nvSpPr>
          <p:cNvPr id="25" name="Shape 23"/>
          <p:cNvSpPr/>
          <p:nvPr/>
        </p:nvSpPr>
        <p:spPr>
          <a:xfrm>
            <a:off x="6309360" y="3794760"/>
            <a:ext cx="5303520" cy="1783080"/>
          </a:xfrm>
          <a:prstGeom prst="roundRect">
            <a:avLst>
              <a:gd name="adj" fmla="val 5128"/>
            </a:avLst>
          </a:prstGeom>
          <a:solidFill>
            <a:srgbClr val="E7F5F1"/>
          </a:solidFill>
          <a:ln/>
        </p:spPr>
      </p:sp>
      <p:sp>
        <p:nvSpPr>
          <p:cNvPr id="26" name="Text 24"/>
          <p:cNvSpPr/>
          <p:nvPr/>
        </p:nvSpPr>
        <p:spPr>
          <a:xfrm>
            <a:off x="6537960" y="3931920"/>
            <a:ext cx="484632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Sobre los datos entregados</a:t>
            </a:r>
            <a:endParaRPr lang="en-US" sz="1250" dirty="0"/>
          </a:p>
        </p:txBody>
      </p:sp>
      <p:sp>
        <p:nvSpPr>
          <p:cNvPr id="27" name="Text 25"/>
          <p:cNvSpPr/>
          <p:nvPr/>
        </p:nvSpPr>
        <p:spPr>
          <a:xfrm>
            <a:off x="6537960" y="4315968"/>
            <a:ext cx="4846320" cy="1097280"/>
          </a:xfrm>
          <a:prstGeom prst="rect">
            <a:avLst/>
          </a:prstGeom>
          <a:noFill/>
          <a:ln/>
        </p:spPr>
        <p:txBody>
          <a:bodyPr wrap="square" rtlCol="0" anchor="ctr"/>
          <a:lstStyle/>
          <a:p>
            <a:pPr marL="0" indent="0">
              <a:lnSpc>
                <a:spcPct val="125000"/>
              </a:lnSpc>
              <a:buNone/>
            </a:pPr>
            <a:r>
              <a:rPr lang="en-US" sz="1150" dirty="0">
                <a:solidFill>
                  <a:srgbClr val="21295C"/>
                </a:solidFill>
                <a:latin typeface="Calibri" pitchFamily="34" charset="0"/>
                <a:ea typeface="Calibri" pitchFamily="34" charset="-122"/>
                <a:cs typeface="Calibri" pitchFamily="34" charset="-120"/>
              </a:rPr>
              <a:t>El ZIP entregado no incluye microdatos, archivos SAV ni Parquet: únicamente código, resultados agregados y documentación.</a:t>
            </a:r>
            <a:endParaRPr lang="en-US" sz="1150" dirty="0"/>
          </a:p>
        </p:txBody>
      </p:sp>
      <p:sp>
        <p:nvSpPr>
          <p:cNvPr id="28" name="Shape 26"/>
          <p:cNvSpPr/>
          <p:nvPr/>
        </p:nvSpPr>
        <p:spPr>
          <a:xfrm>
            <a:off x="548640" y="5897880"/>
            <a:ext cx="11091672" cy="502920"/>
          </a:xfrm>
          <a:prstGeom prst="roundRect">
            <a:avLst>
              <a:gd name="adj" fmla="val 14545"/>
            </a:avLst>
          </a:prstGeom>
          <a:solidFill>
            <a:srgbClr val="065A82"/>
          </a:solidFill>
          <a:ln/>
        </p:spPr>
      </p:sp>
      <p:sp>
        <p:nvSpPr>
          <p:cNvPr id="29" name="Text 27"/>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Gerardo realizará una síntesis final antes de recibir las preguntas.</a:t>
            </a:r>
            <a:endParaRPr lang="en-US" sz="1100" dirty="0"/>
          </a:p>
        </p:txBody>
      </p:sp>
      <p:sp>
        <p:nvSpPr>
          <p:cNvPr id="30" name="Text 28"/>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65A82">
              <a:alpha val="45000"/>
            </a:srgbClr>
          </a:solidFill>
          <a:ln/>
        </p:spPr>
      </p:sp>
      <p:sp>
        <p:nvSpPr>
          <p:cNvPr id="3" name="Shape 1"/>
          <p:cNvSpPr/>
          <p:nvPr/>
        </p:nvSpPr>
        <p:spPr>
          <a:xfrm>
            <a:off x="8686800" y="3657600"/>
            <a:ext cx="5029200" cy="5029200"/>
          </a:xfrm>
          <a:prstGeom prst="ellipse">
            <a:avLst/>
          </a:prstGeom>
          <a:solidFill>
            <a:srgbClr val="1C7293">
              <a:alpha val="40000"/>
            </a:srgbClr>
          </a:solidFill>
          <a:ln/>
        </p:spPr>
      </p:sp>
      <p:sp>
        <p:nvSpPr>
          <p:cNvPr id="4" name="Text 2"/>
          <p:cNvSpPr/>
          <p:nvPr/>
        </p:nvSpPr>
        <p:spPr>
          <a:xfrm>
            <a:off x="731520" y="640080"/>
            <a:ext cx="7315200" cy="365760"/>
          </a:xfrm>
          <a:prstGeom prst="rect">
            <a:avLst/>
          </a:prstGeom>
          <a:noFill/>
          <a:ln/>
        </p:spPr>
        <p:txBody>
          <a:bodyPr wrap="square" rtlCol="0" anchor="ctr"/>
          <a:lstStyle/>
          <a:p>
            <a:pPr marL="0" indent="0">
              <a:buNone/>
            </a:pPr>
            <a:r>
              <a:rPr lang="en-US" sz="1200" b="1" kern="0" spc="150" dirty="0">
                <a:solidFill>
                  <a:srgbClr val="5FB3A3"/>
                </a:solidFill>
                <a:latin typeface="Calibri" pitchFamily="34" charset="0"/>
                <a:ea typeface="Calibri" pitchFamily="34" charset="-122"/>
                <a:cs typeface="Calibri" pitchFamily="34" charset="-120"/>
              </a:rPr>
              <a:t> </a:t>
            </a:r>
            <a:endParaRPr lang="en-US" sz="1200" dirty="0"/>
          </a:p>
        </p:txBody>
      </p:sp>
      <p:sp>
        <p:nvSpPr>
          <p:cNvPr id="5" name="Text 3"/>
          <p:cNvSpPr/>
          <p:nvPr/>
        </p:nvSpPr>
        <p:spPr>
          <a:xfrm>
            <a:off x="731520" y="1097280"/>
            <a:ext cx="91440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Síntesis final</a:t>
            </a:r>
            <a:endParaRPr lang="en-US" sz="3400" dirty="0"/>
          </a:p>
        </p:txBody>
      </p:sp>
      <p:sp>
        <p:nvSpPr>
          <p:cNvPr id="6" name="Text 4"/>
          <p:cNvSpPr/>
          <p:nvPr/>
        </p:nvSpPr>
        <p:spPr>
          <a:xfrm>
            <a:off x="731520" y="2103120"/>
            <a:ext cx="6766560" cy="1737360"/>
          </a:xfrm>
          <a:prstGeom prst="rect">
            <a:avLst/>
          </a:prstGeom>
          <a:noFill/>
          <a:ln/>
        </p:spPr>
        <p:txBody>
          <a:bodyPr wrap="square" rtlCol="0" anchor="ctr"/>
          <a:lstStyle/>
          <a:p>
            <a:pPr marL="0" indent="0">
              <a:lnSpc>
                <a:spcPct val="130000"/>
              </a:lnSpc>
              <a:buNone/>
            </a:pPr>
            <a:r>
              <a:rPr lang="en-US" sz="1500" dirty="0">
                <a:solidFill>
                  <a:srgbClr val="CADCFC"/>
                </a:solidFill>
                <a:latin typeface="Calibri" pitchFamily="34" charset="0"/>
                <a:ea typeface="Calibri" pitchFamily="34" charset="-122"/>
                <a:cs typeface="Calibri" pitchFamily="34" charset="-120"/>
              </a:rPr>
              <a:t>Procesamos 5.38 millones de eventos con un flujo reproducible, validamos una coincidencia del 100% entre Pandas y Dask, mejoramos el balance de las particiones con salting y generamos una salida publicable con K mínimo de 50.</a:t>
            </a:r>
            <a:endParaRPr lang="en-US" sz="1500" dirty="0"/>
          </a:p>
        </p:txBody>
      </p:sp>
      <p:sp>
        <p:nvSpPr>
          <p:cNvPr id="7" name="Shape 5"/>
          <p:cNvSpPr/>
          <p:nvPr/>
        </p:nvSpPr>
        <p:spPr>
          <a:xfrm>
            <a:off x="731520" y="3977640"/>
            <a:ext cx="6766560" cy="1234440"/>
          </a:xfrm>
          <a:prstGeom prst="roundRect">
            <a:avLst>
              <a:gd name="adj" fmla="val 7407"/>
            </a:avLst>
          </a:prstGeom>
          <a:solidFill>
            <a:srgbClr val="FFFFFF">
              <a:alpha val="8000"/>
            </a:srgbClr>
          </a:solidFill>
          <a:ln w="12700">
            <a:solidFill>
              <a:srgbClr val="5FB3A3"/>
            </a:solidFill>
            <a:prstDash val="solid"/>
          </a:ln>
        </p:spPr>
      </p:sp>
      <p:sp>
        <p:nvSpPr>
          <p:cNvPr id="8" name="Text 6"/>
          <p:cNvSpPr/>
          <p:nvPr/>
        </p:nvSpPr>
        <p:spPr>
          <a:xfrm>
            <a:off x="960120" y="4114800"/>
            <a:ext cx="6309360" cy="96012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El resultado más importante no es afirmar que Dask siempre sea más rápido, sino identificar cuándo el paralelismo aporta valor y cuándo el overhead domina.</a:t>
            </a:r>
            <a:endParaRPr lang="en-US" sz="1250" dirty="0"/>
          </a:p>
        </p:txBody>
      </p:sp>
      <p:sp>
        <p:nvSpPr>
          <p:cNvPr id="9" name="Shape 7"/>
          <p:cNvSpPr/>
          <p:nvPr/>
        </p:nvSpPr>
        <p:spPr>
          <a:xfrm>
            <a:off x="8092440" y="2103120"/>
            <a:ext cx="1600200" cy="1600200"/>
          </a:xfrm>
          <a:prstGeom prst="ellipse">
            <a:avLst/>
          </a:prstGeom>
          <a:solidFill>
            <a:srgbClr val="FFFFFF"/>
          </a:solidFill>
          <a:ln w="25400">
            <a:solidFill>
              <a:srgbClr val="5FB3A3"/>
            </a:solidFill>
            <a:prstDash val="solid"/>
          </a:ln>
          <a:effectLst>
            <a:outerShdw blurRad="76200" dist="25400" dir="5400000" algn="bl" rotWithShape="0">
              <a:srgbClr val="1F2937">
                <a:alpha val="15000"/>
              </a:srgbClr>
            </a:outerShdw>
          </a:effectLst>
        </p:spPr>
      </p:sp>
      <p:sp>
        <p:nvSpPr>
          <p:cNvPr id="10" name="Text 8"/>
          <p:cNvSpPr/>
          <p:nvPr/>
        </p:nvSpPr>
        <p:spPr>
          <a:xfrm>
            <a:off x="8092440" y="2391156"/>
            <a:ext cx="1600200" cy="720090"/>
          </a:xfrm>
          <a:prstGeom prst="rect">
            <a:avLst/>
          </a:prstGeom>
          <a:noFill/>
          <a:ln/>
        </p:spPr>
        <p:txBody>
          <a:bodyPr wrap="square" rtlCol="0" anchor="ctr"/>
          <a:lstStyle/>
          <a:p>
            <a:pPr marL="0" indent="0" algn="ctr">
              <a:buNone/>
            </a:pPr>
            <a:r>
              <a:rPr lang="en-US" sz="2200" b="1" dirty="0">
                <a:solidFill>
                  <a:srgbClr val="5FB3A3"/>
                </a:solidFill>
                <a:latin typeface="Cambria" pitchFamily="34" charset="0"/>
                <a:ea typeface="Cambria" pitchFamily="34" charset="-122"/>
                <a:cs typeface="Cambria" pitchFamily="34" charset="-120"/>
              </a:rPr>
              <a:t>5.38M</a:t>
            </a:r>
            <a:endParaRPr lang="en-US" sz="2200" dirty="0"/>
          </a:p>
        </p:txBody>
      </p:sp>
      <p:sp>
        <p:nvSpPr>
          <p:cNvPr id="11" name="Text 9"/>
          <p:cNvSpPr/>
          <p:nvPr/>
        </p:nvSpPr>
        <p:spPr>
          <a:xfrm>
            <a:off x="8138160" y="303123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eventos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procesados</a:t>
            </a:r>
            <a:endParaRPr lang="en-US" sz="950" dirty="0"/>
          </a:p>
        </p:txBody>
      </p:sp>
      <p:sp>
        <p:nvSpPr>
          <p:cNvPr id="12" name="Shape 10"/>
          <p:cNvSpPr/>
          <p:nvPr/>
        </p:nvSpPr>
        <p:spPr>
          <a:xfrm>
            <a:off x="8092440" y="3886200"/>
            <a:ext cx="1600200" cy="16002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3" name="Text 11"/>
          <p:cNvSpPr/>
          <p:nvPr/>
        </p:nvSpPr>
        <p:spPr>
          <a:xfrm>
            <a:off x="8092440" y="4174236"/>
            <a:ext cx="1600200" cy="72009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100%</a:t>
            </a:r>
            <a:endParaRPr lang="en-US" sz="2200" dirty="0"/>
          </a:p>
        </p:txBody>
      </p:sp>
      <p:sp>
        <p:nvSpPr>
          <p:cNvPr id="14" name="Text 12"/>
          <p:cNvSpPr/>
          <p:nvPr/>
        </p:nvSpPr>
        <p:spPr>
          <a:xfrm>
            <a:off x="8138160" y="481431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coincidencia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Pandas–Dask</a:t>
            </a:r>
            <a:endParaRPr lang="en-US" sz="950" dirty="0"/>
          </a:p>
        </p:txBody>
      </p:sp>
      <p:sp>
        <p:nvSpPr>
          <p:cNvPr id="15" name="Shape 13"/>
          <p:cNvSpPr/>
          <p:nvPr/>
        </p:nvSpPr>
        <p:spPr>
          <a:xfrm>
            <a:off x="9921240" y="2103120"/>
            <a:ext cx="1600200" cy="1600200"/>
          </a:xfrm>
          <a:prstGeom prst="ellipse">
            <a:avLst/>
          </a:prstGeom>
          <a:solidFill>
            <a:srgbClr val="FFFFFF"/>
          </a:solidFill>
          <a:ln w="25400">
            <a:solidFill>
              <a:srgbClr val="5FB3A3"/>
            </a:solidFill>
            <a:prstDash val="solid"/>
          </a:ln>
          <a:effectLst>
            <a:outerShdw blurRad="76200" dist="25400" dir="5400000" algn="bl" rotWithShape="0">
              <a:srgbClr val="1F2937">
                <a:alpha val="15000"/>
              </a:srgbClr>
            </a:outerShdw>
          </a:effectLst>
        </p:spPr>
      </p:sp>
      <p:sp>
        <p:nvSpPr>
          <p:cNvPr id="16" name="Text 14"/>
          <p:cNvSpPr/>
          <p:nvPr/>
        </p:nvSpPr>
        <p:spPr>
          <a:xfrm>
            <a:off x="9921240" y="2391156"/>
            <a:ext cx="1600200" cy="720090"/>
          </a:xfrm>
          <a:prstGeom prst="rect">
            <a:avLst/>
          </a:prstGeom>
          <a:noFill/>
          <a:ln/>
        </p:spPr>
        <p:txBody>
          <a:bodyPr wrap="square" rtlCol="0" anchor="ctr"/>
          <a:lstStyle/>
          <a:p>
            <a:pPr marL="0" indent="0" algn="ctr">
              <a:buNone/>
            </a:pPr>
            <a:r>
              <a:rPr lang="en-US" sz="2200" b="1" dirty="0">
                <a:solidFill>
                  <a:srgbClr val="5FB3A3"/>
                </a:solidFill>
                <a:latin typeface="Cambria" pitchFamily="34" charset="0"/>
                <a:ea typeface="Cambria" pitchFamily="34" charset="-122"/>
                <a:cs typeface="Cambria" pitchFamily="34" charset="-120"/>
              </a:rPr>
              <a:t>K ≥ 50</a:t>
            </a:r>
            <a:endParaRPr lang="en-US" sz="2200" dirty="0"/>
          </a:p>
        </p:txBody>
      </p:sp>
      <p:sp>
        <p:nvSpPr>
          <p:cNvPr id="17" name="Text 15"/>
          <p:cNvSpPr/>
          <p:nvPr/>
        </p:nvSpPr>
        <p:spPr>
          <a:xfrm>
            <a:off x="9966960" y="303123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salida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publicable</a:t>
            </a:r>
            <a:endParaRPr lang="en-US" sz="950" dirty="0"/>
          </a:p>
        </p:txBody>
      </p:sp>
      <p:sp>
        <p:nvSpPr>
          <p:cNvPr id="18" name="Shape 16"/>
          <p:cNvSpPr/>
          <p:nvPr/>
        </p:nvSpPr>
        <p:spPr>
          <a:xfrm>
            <a:off x="9921240" y="3886200"/>
            <a:ext cx="1600200" cy="16002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9" name="Text 17"/>
          <p:cNvSpPr/>
          <p:nvPr/>
        </p:nvSpPr>
        <p:spPr>
          <a:xfrm>
            <a:off x="9921240" y="4174236"/>
            <a:ext cx="1600200" cy="72009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0.979</a:t>
            </a:r>
            <a:endParaRPr lang="en-US" sz="2200" dirty="0"/>
          </a:p>
        </p:txBody>
      </p:sp>
      <p:sp>
        <p:nvSpPr>
          <p:cNvPr id="20" name="Text 18"/>
          <p:cNvSpPr/>
          <p:nvPr/>
        </p:nvSpPr>
        <p:spPr>
          <a:xfrm>
            <a:off x="9966960" y="481431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speedup</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final</a:t>
            </a:r>
            <a:endParaRPr lang="en-US" sz="950" dirty="0"/>
          </a:p>
        </p:txBody>
      </p:sp>
      <p:sp>
        <p:nvSpPr>
          <p:cNvPr id="21" name="Text 19"/>
          <p:cNvSpPr/>
          <p:nvPr/>
        </p:nvSpPr>
        <p:spPr>
          <a:xfrm>
            <a:off x="731520" y="5623560"/>
            <a:ext cx="914400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Muchas gracias. Estamos listos para sus preguntas.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1320</Words>
  <Application>Microsoft Office PowerPoint</Application>
  <PresentationFormat>Panorámica</PresentationFormat>
  <Paragraphs>223</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Lab. Computo E5</cp:lastModifiedBy>
  <cp:revision>2</cp:revision>
  <dcterms:created xsi:type="dcterms:W3CDTF">2026-08-01T13:48:56Z</dcterms:created>
  <dcterms:modified xsi:type="dcterms:W3CDTF">2026-08-01T13:56:42Z</dcterms:modified>
</cp:coreProperties>
</file>